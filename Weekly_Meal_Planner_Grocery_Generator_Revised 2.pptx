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eghana200712/KLHB-FED-26-15-1-Weekly-Meal-Planner-Grocery-Generator"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3028"/>
        </a:solidFill>
        <a:effectLst/>
      </p:bgPr>
    </p:bg>
    <p:spTree>
      <p:nvGrpSpPr>
        <p:cNvPr id="1" name=""/>
        <p:cNvGrpSpPr/>
        <p:nvPr/>
      </p:nvGrpSpPr>
      <p:grpSpPr/>
      <p:sp>
        <p:nvSpPr>
          <p:cNvPr id="2" name="Rectangle 1"/>
          <p:cNvSpPr/>
          <p:nvPr/>
        </p:nvSpPr>
        <p:spPr>
          <a:xfrm>
            <a:off x="8092440" y="0"/>
            <a:ext cx="4099255" cy="6858000"/>
          </a:xfrm>
          <a:prstGeom prst="rect">
            <a:avLst/>
          </a:prstGeom>
          <a:solidFill>
            <a:srgbClr val="1E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58200" y="1170432"/>
            <a:ext cx="2697479" cy="2697479"/>
          </a:xfrm>
          <a:prstGeom prst="ellipse">
            <a:avLst/>
          </a:prstGeom>
          <a:solidFill>
            <a:srgbClr val="F4E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652418" y="1364650"/>
            <a:ext cx="2309042" cy="230904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59544" y="1763877"/>
            <a:ext cx="668975" cy="668975"/>
          </a:xfrm>
          <a:prstGeom prst="ellipse">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839309" y="1763877"/>
            <a:ext cx="539496" cy="539496"/>
          </a:xfrm>
          <a:prstGeom prst="ellipse">
            <a:avLst/>
          </a:prstGeom>
          <a:solidFill>
            <a:srgbClr val="B2CA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051645" y="2465222"/>
            <a:ext cx="593445" cy="593445"/>
          </a:xfrm>
          <a:prstGeom prst="ellipse">
            <a:avLst/>
          </a:prstGeom>
          <a:solidFill>
            <a:srgbClr val="E6B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806940" y="2443642"/>
            <a:ext cx="733714" cy="733714"/>
          </a:xfrm>
          <a:prstGeom prst="ellipse">
            <a:avLst/>
          </a:prstGeom>
          <a:solidFill>
            <a:srgbClr val="1E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50872" y="2195474"/>
            <a:ext cx="431596" cy="431596"/>
          </a:xfrm>
          <a:prstGeom prst="ellipse">
            <a:avLst/>
          </a:prstGeom>
          <a:solidFill>
            <a:srgbClr val="F7D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14839" y="1450969"/>
            <a:ext cx="194218" cy="485546"/>
          </a:xfrm>
          <a:prstGeom prst="ellipse">
            <a:avLst/>
          </a:prstGeom>
          <a:solidFill>
            <a:srgbClr val="1E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868216" y="2195474"/>
            <a:ext cx="161848" cy="388437"/>
          </a:xfrm>
          <a:prstGeom prst="ellipse">
            <a:avLst/>
          </a:prstGeom>
          <a:solidFill>
            <a:srgbClr val="B2CA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07040" y="566928"/>
            <a:ext cx="438912" cy="438912"/>
          </a:xfrm>
          <a:prstGeom prst="ellipse">
            <a:avLst/>
          </a:prstGeom>
          <a:solidFill>
            <a:srgbClr val="E6B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183879" y="4709160"/>
            <a:ext cx="329184" cy="329184"/>
          </a:xfrm>
          <a:prstGeom prst="ellipse">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594360"/>
            <a:ext cx="5303520" cy="274320"/>
          </a:xfrm>
          <a:prstGeom prst="rect">
            <a:avLst/>
          </a:prstGeom>
          <a:noFill/>
        </p:spPr>
        <p:txBody>
          <a:bodyPr wrap="square" lIns="0" rIns="0" tIns="0" bIns="0" anchor="t">
            <a:spAutoFit/>
          </a:bodyPr>
          <a:lstStyle/>
          <a:p/>
        </p:txBody>
      </p:sp>
      <p:sp>
        <p:nvSpPr>
          <p:cNvPr id="15" name="TextBox 14"/>
          <p:cNvSpPr txBox="1"/>
          <p:nvPr/>
        </p:nvSpPr>
        <p:spPr>
          <a:xfrm>
            <a:off x="676656" y="1234440"/>
            <a:ext cx="7315200" cy="2148840"/>
          </a:xfrm>
          <a:prstGeom prst="rect">
            <a:avLst/>
          </a:prstGeom>
          <a:noFill/>
        </p:spPr>
        <p:txBody>
          <a:bodyPr wrap="square" lIns="0" rIns="0" tIns="0" bIns="0" anchor="t">
            <a:spAutoFit/>
          </a:bodyPr>
          <a:lstStyle/>
          <a:p>
            <a:pPr algn="l">
              <a:spcAft>
                <a:spcPts val="300"/>
              </a:spcAft>
            </a:pPr>
            <a:r>
              <a:rPr sz="3400" b="1" i="0">
                <a:solidFill>
                  <a:srgbClr val="FFFFFF"/>
                </a:solidFill>
                <a:latin typeface="Aptos"/>
              </a:rPr>
              <a:t>Weekly Meal</a:t>
            </a:r>
          </a:p>
          <a:p>
            <a:pPr algn="l">
              <a:spcAft>
                <a:spcPts val="300"/>
              </a:spcAft>
            </a:pPr>
            <a:r>
              <a:rPr sz="3400" b="1" i="0">
                <a:solidFill>
                  <a:srgbClr val="FFFFFF"/>
                </a:solidFill>
                <a:latin typeface="Aptos"/>
              </a:rPr>
              <a:t>Planner &amp; Grocery</a:t>
            </a:r>
          </a:p>
          <a:p>
            <a:pPr algn="l">
              <a:spcAft>
                <a:spcPts val="300"/>
              </a:spcAft>
            </a:pPr>
            <a:r>
              <a:rPr sz="3400" b="1" i="0">
                <a:solidFill>
                  <a:srgbClr val="FFFFFF"/>
                </a:solidFill>
                <a:latin typeface="Aptos"/>
              </a:rPr>
              <a:t>Generator</a:t>
            </a:r>
          </a:p>
        </p:txBody>
      </p:sp>
      <p:sp>
        <p:nvSpPr>
          <p:cNvPr id="16" name="Rectangle 15"/>
          <p:cNvSpPr/>
          <p:nvPr/>
        </p:nvSpPr>
        <p:spPr>
          <a:xfrm>
            <a:off x="731520" y="3703320"/>
            <a:ext cx="713232" cy="54864"/>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977639"/>
            <a:ext cx="6583680" cy="384048"/>
          </a:xfrm>
          <a:prstGeom prst="rect">
            <a:avLst/>
          </a:prstGeom>
          <a:noFill/>
        </p:spPr>
        <p:txBody>
          <a:bodyPr wrap="square" lIns="0" rIns="0" tIns="0" bIns="0" anchor="t">
            <a:spAutoFit/>
          </a:bodyPr>
          <a:lstStyle/>
          <a:p>
            <a:pPr algn="l">
              <a:spcAft>
                <a:spcPts val="300"/>
              </a:spcAft>
            </a:pPr>
            <a:r>
              <a:rPr sz="1700" b="0" i="0">
                <a:solidFill>
                  <a:srgbClr val="B2CAA4"/>
                </a:solidFill>
                <a:latin typeface="Aptos"/>
              </a:rPr>
              <a:t>Plan smarter. Shop efficiently. Waste less.</a:t>
            </a:r>
          </a:p>
        </p:txBody>
      </p:sp>
      <p:sp>
        <p:nvSpPr>
          <p:cNvPr id="18" name="Rounded Rectangle 17"/>
          <p:cNvSpPr/>
          <p:nvPr/>
        </p:nvSpPr>
        <p:spPr>
          <a:xfrm>
            <a:off x="731520" y="4709160"/>
            <a:ext cx="6903720" cy="1051560"/>
          </a:xfrm>
          <a:prstGeom prst="roundRect">
            <a:avLst>
              <a:gd name="adj" fmla="val 12000"/>
            </a:avLst>
          </a:prstGeom>
          <a:solidFill>
            <a:srgbClr val="254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919472"/>
            <a:ext cx="2423160" cy="256032"/>
          </a:xfrm>
          <a:prstGeom prst="rect">
            <a:avLst/>
          </a:prstGeom>
          <a:noFill/>
        </p:spPr>
        <p:txBody>
          <a:bodyPr wrap="square" lIns="0" rIns="0" tIns="0" bIns="0" anchor="t">
            <a:spAutoFit/>
          </a:bodyPr>
          <a:lstStyle/>
          <a:p>
            <a:pPr algn="l">
              <a:spcAft>
                <a:spcPts val="300"/>
              </a:spcAft>
            </a:pPr>
            <a:r>
              <a:rPr sz="1500" b="1" i="0">
                <a:solidFill>
                  <a:srgbClr val="FFFFFF"/>
                </a:solidFill>
                <a:latin typeface="Aptos"/>
              </a:rPr>
              <a:t>P. Renu Sree</a:t>
            </a:r>
          </a:p>
        </p:txBody>
      </p:sp>
      <p:sp>
        <p:nvSpPr>
          <p:cNvPr id="20" name="TextBox 19"/>
          <p:cNvSpPr txBox="1"/>
          <p:nvPr/>
        </p:nvSpPr>
        <p:spPr>
          <a:xfrm>
            <a:off x="960120" y="5266944"/>
            <a:ext cx="2423160" cy="219456"/>
          </a:xfrm>
          <a:prstGeom prst="rect">
            <a:avLst/>
          </a:prstGeom>
          <a:noFill/>
        </p:spPr>
        <p:txBody>
          <a:bodyPr wrap="square" lIns="0" rIns="0" tIns="0" bIns="0" anchor="t">
            <a:spAutoFit/>
          </a:bodyPr>
          <a:lstStyle/>
          <a:p>
            <a:pPr algn="l">
              <a:spcAft>
                <a:spcPts val="300"/>
              </a:spcAft>
            </a:pPr>
            <a:r>
              <a:rPr sz="1100" b="0" i="0">
                <a:solidFill>
                  <a:srgbClr val="B2CAA4"/>
                </a:solidFill>
                <a:latin typeface="Aptos"/>
              </a:rPr>
              <a:t>2620030098</a:t>
            </a:r>
          </a:p>
        </p:txBody>
      </p:sp>
      <p:sp>
        <p:nvSpPr>
          <p:cNvPr id="21" name="TextBox 20"/>
          <p:cNvSpPr txBox="1"/>
          <p:nvPr/>
        </p:nvSpPr>
        <p:spPr>
          <a:xfrm>
            <a:off x="3931920" y="4919472"/>
            <a:ext cx="2971800" cy="256032"/>
          </a:xfrm>
          <a:prstGeom prst="rect">
            <a:avLst/>
          </a:prstGeom>
          <a:noFill/>
        </p:spPr>
        <p:txBody>
          <a:bodyPr wrap="square" lIns="0" rIns="0" tIns="0" bIns="0" anchor="t">
            <a:spAutoFit/>
          </a:bodyPr>
          <a:lstStyle/>
          <a:p>
            <a:pPr algn="l">
              <a:spcAft>
                <a:spcPts val="300"/>
              </a:spcAft>
            </a:pPr>
            <a:r>
              <a:rPr sz="1500" b="1" i="0">
                <a:solidFill>
                  <a:srgbClr val="FFFFFF"/>
                </a:solidFill>
                <a:latin typeface="Aptos"/>
              </a:rPr>
              <a:t>M. Meghana Sruthi</a:t>
            </a:r>
          </a:p>
        </p:txBody>
      </p:sp>
      <p:sp>
        <p:nvSpPr>
          <p:cNvPr id="22" name="TextBox 21"/>
          <p:cNvSpPr txBox="1"/>
          <p:nvPr/>
        </p:nvSpPr>
        <p:spPr>
          <a:xfrm>
            <a:off x="3931920" y="5266944"/>
            <a:ext cx="2423160" cy="219456"/>
          </a:xfrm>
          <a:prstGeom prst="rect">
            <a:avLst/>
          </a:prstGeom>
          <a:noFill/>
        </p:spPr>
        <p:txBody>
          <a:bodyPr wrap="square" lIns="0" rIns="0" tIns="0" bIns="0" anchor="t">
            <a:spAutoFit/>
          </a:bodyPr>
          <a:lstStyle/>
          <a:p>
            <a:pPr algn="l">
              <a:spcAft>
                <a:spcPts val="300"/>
              </a:spcAft>
            </a:pPr>
            <a:r>
              <a:rPr sz="1100" b="0" i="0">
                <a:solidFill>
                  <a:srgbClr val="B2CAA4"/>
                </a:solidFill>
                <a:latin typeface="Aptos"/>
              </a:rPr>
              <a:t>2620030293</a:t>
            </a:r>
          </a:p>
        </p:txBody>
      </p:sp>
      <p:sp>
        <p:nvSpPr>
          <p:cNvPr id="23" name="TextBox 22"/>
          <p:cNvSpPr txBox="1"/>
          <p:nvPr/>
        </p:nvSpPr>
        <p:spPr>
          <a:xfrm>
            <a:off x="749808" y="6327648"/>
            <a:ext cx="2560320" cy="201168"/>
          </a:xfrm>
          <a:prstGeom prst="rect">
            <a:avLst/>
          </a:prstGeom>
          <a:noFill/>
        </p:spPr>
        <p:txBody>
          <a:bodyPr wrap="square" lIns="0" rIns="0" tIns="0" bIns="0" anchor="t">
            <a:spAutoFit/>
          </a:bodyPr>
          <a:lstStyle/>
          <a:p/>
        </p:txBody>
      </p:sp>
      <p:sp>
        <p:nvSpPr>
          <p:cNvPr id="24" name="TextBox 23"/>
          <p:cNvSpPr txBox="1"/>
          <p:nvPr/>
        </p:nvSpPr>
        <p:spPr>
          <a:xfrm>
            <a:off x="10652760" y="6519672"/>
            <a:ext cx="914400" cy="164592"/>
          </a:xfrm>
          <a:prstGeom prst="rect">
            <a:avLst/>
          </a:prstGeom>
          <a:noFill/>
        </p:spPr>
        <p:txBody>
          <a:bodyPr wrap="square" lIns="0" rIns="0" tIns="0" bIns="0" anchor="t">
            <a:spAutoFit/>
          </a:bodyPr>
          <a:lstStyle/>
          <a:p>
            <a:pPr algn="r">
              <a:spcAft>
                <a:spcPts val="300"/>
              </a:spcAft>
            </a:pPr>
            <a:r>
              <a:rPr sz="900" b="0" i="0">
                <a:solidFill>
                  <a:srgbClr val="B2CAA4"/>
                </a:solidFill>
                <a:latin typeface="Aptos"/>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315200" cy="201168"/>
          </a:xfrm>
          <a:prstGeom prst="rect">
            <a:avLst/>
          </a:prstGeom>
          <a:noFill/>
        </p:spPr>
        <p:txBody>
          <a:bodyPr wrap="square" lIns="0" rIns="0" tIns="0" bIns="0" anchor="t">
            <a:spAutoFit/>
          </a:bodyPr>
          <a:lstStyle/>
          <a:p>
            <a:pPr algn="l">
              <a:spcAft>
                <a:spcPts val="300"/>
              </a:spcAft>
            </a:pPr>
            <a:r>
              <a:rPr sz="900" b="1" i="0">
                <a:solidFill>
                  <a:srgbClr val="1E4336"/>
                </a:solidFill>
                <a:latin typeface="Aptos"/>
              </a:rPr>
              <a:t>01 — PROJECT OVERVIEW</a:t>
            </a:r>
          </a:p>
        </p:txBody>
      </p:sp>
      <p:sp>
        <p:nvSpPr>
          <p:cNvPr id="4" name="TextBox 3"/>
          <p:cNvSpPr txBox="1"/>
          <p:nvPr/>
        </p:nvSpPr>
        <p:spPr>
          <a:xfrm>
            <a:off x="566928" y="658368"/>
            <a:ext cx="10972800" cy="530352"/>
          </a:xfrm>
          <a:prstGeom prst="rect">
            <a:avLst/>
          </a:prstGeom>
          <a:noFill/>
        </p:spPr>
        <p:txBody>
          <a:bodyPr wrap="square" lIns="0" rIns="0" tIns="0" bIns="0" anchor="t">
            <a:spAutoFit/>
          </a:bodyPr>
          <a:lstStyle/>
          <a:p>
            <a:pPr algn="l">
              <a:spcAft>
                <a:spcPts val="300"/>
              </a:spcAft>
            </a:pPr>
            <a:r>
              <a:rPr sz="2700" b="1" i="0">
                <a:solidFill>
                  <a:srgbClr val="1E4336"/>
                </a:solidFill>
                <a:latin typeface="Aptos"/>
              </a:rPr>
              <a:t>Abstract</a:t>
            </a:r>
          </a:p>
        </p:txBody>
      </p:sp>
      <p:sp>
        <p:nvSpPr>
          <p:cNvPr id="5" name="Rectangle 4"/>
          <p:cNvSpPr/>
          <p:nvPr/>
        </p:nvSpPr>
        <p:spPr>
          <a:xfrm>
            <a:off x="566928" y="1307592"/>
            <a:ext cx="713232" cy="502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52760" y="6519672"/>
            <a:ext cx="914400" cy="164592"/>
          </a:xfrm>
          <a:prstGeom prst="rect">
            <a:avLst/>
          </a:prstGeom>
          <a:noFill/>
        </p:spPr>
        <p:txBody>
          <a:bodyPr wrap="square" lIns="0" rIns="0" tIns="0" bIns="0" anchor="t">
            <a:spAutoFit/>
          </a:bodyPr>
          <a:lstStyle/>
          <a:p>
            <a:pPr algn="r">
              <a:spcAft>
                <a:spcPts val="300"/>
              </a:spcAft>
            </a:pPr>
            <a:r>
              <a:rPr sz="900" b="0" i="0">
                <a:solidFill>
                  <a:srgbClr val="6A776C"/>
                </a:solidFill>
                <a:latin typeface="Aptos"/>
              </a:rPr>
              <a:t>02  /  12</a:t>
            </a:r>
          </a:p>
        </p:txBody>
      </p:sp>
      <p:sp>
        <p:nvSpPr>
          <p:cNvPr id="7" name="TextBox 6"/>
          <p:cNvSpPr txBox="1"/>
          <p:nvPr/>
        </p:nvSpPr>
        <p:spPr>
          <a:xfrm>
            <a:off x="621792" y="1600200"/>
            <a:ext cx="10789920" cy="594360"/>
          </a:xfrm>
          <a:prstGeom prst="rect">
            <a:avLst/>
          </a:prstGeom>
          <a:noFill/>
        </p:spPr>
        <p:txBody>
          <a:bodyPr wrap="square" lIns="0" rIns="0" tIns="0" bIns="0" anchor="t">
            <a:spAutoFit/>
          </a:bodyPr>
          <a:lstStyle/>
          <a:p>
            <a:pPr algn="l">
              <a:spcAft>
                <a:spcPts val="300"/>
              </a:spcAft>
            </a:pPr>
            <a:r>
              <a:rPr sz="2000" b="1" i="0">
                <a:solidFill>
                  <a:srgbClr val="1E4336"/>
                </a:solidFill>
                <a:latin typeface="Aptos"/>
              </a:rPr>
              <a:t>A simple Java application that turns weekly meal choices into an organized shopping plan.</a:t>
            </a:r>
          </a:p>
        </p:txBody>
      </p:sp>
      <p:sp>
        <p:nvSpPr>
          <p:cNvPr id="8" name="Rounded Rectangle 7"/>
          <p:cNvSpPr/>
          <p:nvPr/>
        </p:nvSpPr>
        <p:spPr>
          <a:xfrm>
            <a:off x="640080" y="2423160"/>
            <a:ext cx="6720840" cy="324612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97480"/>
            <a:ext cx="6172200" cy="2697480"/>
          </a:xfrm>
          <a:prstGeom prst="rect">
            <a:avLst/>
          </a:prstGeom>
          <a:noFill/>
        </p:spPr>
        <p:txBody>
          <a:bodyPr wrap="square" lIns="18288" rIns="18288" tIns="18288" bIns="18288" anchor="t">
            <a:spAutoFit/>
          </a:bodyPr>
          <a:lstStyle/>
          <a:p>
            <a:pPr algn="l">
              <a:spcAft>
                <a:spcPts val="300"/>
              </a:spcAft>
            </a:pPr>
            <a:r>
              <a:rPr sz="1500" b="0" i="0">
                <a:solidFill>
                  <a:srgbClr val="2D3931"/>
                </a:solidFill>
                <a:latin typeface="Aptos"/>
              </a:rPr>
              <a:t>Users can plan breakfast, lunch, dinner and snacks for each day of the week. Once meals are selected, the system gathers the ingredients into one grocery list, helping users shop with a clearer plan.</a:t>
            </a:r>
          </a:p>
          <a:p>
            <a:pPr algn="l">
              <a:spcAft>
                <a:spcPts val="300"/>
              </a:spcAft>
            </a:pPr>
          </a:p>
          <a:p>
            <a:pPr algn="l">
              <a:spcAft>
                <a:spcPts val="300"/>
              </a:spcAft>
            </a:pPr>
            <a:r>
              <a:rPr sz="1500" b="0" i="0">
                <a:solidFill>
                  <a:srgbClr val="2D3931"/>
                </a:solidFill>
                <a:latin typeface="Aptos"/>
              </a:rPr>
              <a:t>The project aims to reduce planning time, avoid unnecessary purchases, minimize food waste and encourage healthy eating. It also demonstrates Java fundamentals including classes, objects, methods, arrays, loops, conditionals, collections and file handling.</a:t>
            </a:r>
          </a:p>
        </p:txBody>
      </p:sp>
      <p:sp>
        <p:nvSpPr>
          <p:cNvPr id="10" name="Rounded Rectangle 9"/>
          <p:cNvSpPr/>
          <p:nvPr/>
        </p:nvSpPr>
        <p:spPr>
          <a:xfrm>
            <a:off x="7635240" y="2423160"/>
            <a:ext cx="3749039" cy="137160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635240" y="2423160"/>
            <a:ext cx="82296" cy="1371600"/>
          </a:xfrm>
          <a:prstGeom prst="roundRect">
            <a:avLst>
              <a:gd name="adj" fmla="val 12000"/>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54696" y="2596896"/>
            <a:ext cx="3364991"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THE INPUT</a:t>
            </a:r>
          </a:p>
        </p:txBody>
      </p:sp>
      <p:sp>
        <p:nvSpPr>
          <p:cNvPr id="13" name="TextBox 12"/>
          <p:cNvSpPr txBox="1"/>
          <p:nvPr/>
        </p:nvSpPr>
        <p:spPr>
          <a:xfrm>
            <a:off x="7854696" y="2990088"/>
            <a:ext cx="3364991" cy="67665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Meal choices organized by day and meal type.</a:t>
            </a:r>
          </a:p>
        </p:txBody>
      </p:sp>
      <p:sp>
        <p:nvSpPr>
          <p:cNvPr id="14" name="Rounded Rectangle 13"/>
          <p:cNvSpPr/>
          <p:nvPr/>
        </p:nvSpPr>
        <p:spPr>
          <a:xfrm>
            <a:off x="7635240" y="3977639"/>
            <a:ext cx="3749039" cy="169164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35240" y="3977639"/>
            <a:ext cx="82296" cy="1691640"/>
          </a:xfrm>
          <a:prstGeom prst="roundRect">
            <a:avLst>
              <a:gd name="adj" fmla="val 12000"/>
            </a:avLst>
          </a:prstGeom>
          <a:solidFill>
            <a:srgbClr val="B2CA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54696" y="4151376"/>
            <a:ext cx="3364991"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THE OUTPUT</a:t>
            </a:r>
          </a:p>
        </p:txBody>
      </p:sp>
      <p:sp>
        <p:nvSpPr>
          <p:cNvPr id="17" name="TextBox 16"/>
          <p:cNvSpPr txBox="1"/>
          <p:nvPr/>
        </p:nvSpPr>
        <p:spPr>
          <a:xfrm>
            <a:off x="7854696" y="4544568"/>
            <a:ext cx="3364991" cy="99669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A weekly schedule plus a consolidated grocery list.</a:t>
            </a:r>
          </a:p>
        </p:txBody>
      </p:sp>
      <p:sp>
        <p:nvSpPr>
          <p:cNvPr id="18" name="TextBox 17"/>
          <p:cNvSpPr txBox="1"/>
          <p:nvPr/>
        </p:nvSpPr>
        <p:spPr>
          <a:xfrm>
            <a:off x="685800" y="5961888"/>
            <a:ext cx="868680" cy="201168"/>
          </a:xfrm>
          <a:prstGeom prst="rect">
            <a:avLst/>
          </a:prstGeom>
          <a:noFill/>
        </p:spPr>
        <p:txBody>
          <a:bodyPr wrap="square" lIns="0" rIns="0" tIns="0" bIns="0" anchor="t">
            <a:spAutoFit/>
          </a:bodyPr>
          <a:lstStyle/>
          <a:p>
            <a:pPr algn="l">
              <a:spcAft>
                <a:spcPts val="300"/>
              </a:spcAft>
            </a:pPr>
            <a:r>
              <a:rPr sz="900" b="1" i="0">
                <a:solidFill>
                  <a:srgbClr val="1E4336"/>
                </a:solidFill>
                <a:latin typeface="Aptos"/>
              </a:rPr>
              <a:t>KEYWORDS</a:t>
            </a:r>
          </a:p>
        </p:txBody>
      </p:sp>
      <p:sp>
        <p:nvSpPr>
          <p:cNvPr id="19" name="Rounded Rectangle 18"/>
          <p:cNvSpPr/>
          <p:nvPr/>
        </p:nvSpPr>
        <p:spPr>
          <a:xfrm>
            <a:off x="1664208" y="5907024"/>
            <a:ext cx="1234440" cy="292608"/>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00784" y="5943600"/>
            <a:ext cx="1161288" cy="201168"/>
          </a:xfrm>
          <a:prstGeom prst="rect">
            <a:avLst/>
          </a:prstGeom>
          <a:noFill/>
        </p:spPr>
        <p:txBody>
          <a:bodyPr wrap="square" lIns="0" rIns="0" tIns="0" bIns="0" anchor="ctr">
            <a:spAutoFit/>
          </a:bodyPr>
          <a:lstStyle/>
          <a:p>
            <a:pPr algn="ctr">
              <a:spcAft>
                <a:spcPts val="300"/>
              </a:spcAft>
            </a:pPr>
            <a:r>
              <a:rPr sz="1000" b="1" i="0">
                <a:solidFill>
                  <a:srgbClr val="1E4336"/>
                </a:solidFill>
                <a:latin typeface="Aptos"/>
              </a:rPr>
              <a:t>Meal planning</a:t>
            </a:r>
          </a:p>
        </p:txBody>
      </p:sp>
      <p:sp>
        <p:nvSpPr>
          <p:cNvPr id="21" name="Rounded Rectangle 20"/>
          <p:cNvSpPr/>
          <p:nvPr/>
        </p:nvSpPr>
        <p:spPr>
          <a:xfrm>
            <a:off x="3008376" y="5907024"/>
            <a:ext cx="640080" cy="292608"/>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44952" y="5943600"/>
            <a:ext cx="566928" cy="201168"/>
          </a:xfrm>
          <a:prstGeom prst="rect">
            <a:avLst/>
          </a:prstGeom>
          <a:noFill/>
        </p:spPr>
        <p:txBody>
          <a:bodyPr wrap="square" lIns="0" rIns="0" tIns="0" bIns="0" anchor="ctr">
            <a:spAutoFit/>
          </a:bodyPr>
          <a:lstStyle/>
          <a:p>
            <a:pPr algn="ctr">
              <a:spcAft>
                <a:spcPts val="300"/>
              </a:spcAft>
            </a:pPr>
            <a:r>
              <a:rPr sz="1000" b="1" i="0">
                <a:solidFill>
                  <a:srgbClr val="1E4336"/>
                </a:solidFill>
                <a:latin typeface="Aptos"/>
              </a:rPr>
              <a:t>Java</a:t>
            </a:r>
          </a:p>
        </p:txBody>
      </p:sp>
      <p:sp>
        <p:nvSpPr>
          <p:cNvPr id="23" name="Rounded Rectangle 22"/>
          <p:cNvSpPr/>
          <p:nvPr/>
        </p:nvSpPr>
        <p:spPr>
          <a:xfrm>
            <a:off x="3758184" y="5907024"/>
            <a:ext cx="1554480" cy="292608"/>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94760" y="5943600"/>
            <a:ext cx="1481328" cy="201168"/>
          </a:xfrm>
          <a:prstGeom prst="rect">
            <a:avLst/>
          </a:prstGeom>
          <a:noFill/>
        </p:spPr>
        <p:txBody>
          <a:bodyPr wrap="square" lIns="0" rIns="0" tIns="0" bIns="0" anchor="ctr">
            <a:spAutoFit/>
          </a:bodyPr>
          <a:lstStyle/>
          <a:p>
            <a:pPr algn="ctr">
              <a:spcAft>
                <a:spcPts val="300"/>
              </a:spcAft>
            </a:pPr>
            <a:r>
              <a:rPr sz="1000" b="1" i="0">
                <a:solidFill>
                  <a:srgbClr val="1E4336"/>
                </a:solidFill>
                <a:latin typeface="Aptos"/>
              </a:rPr>
              <a:t>Ingredient tracking</a:t>
            </a:r>
          </a:p>
        </p:txBody>
      </p:sp>
      <p:sp>
        <p:nvSpPr>
          <p:cNvPr id="25" name="Rounded Rectangle 24"/>
          <p:cNvSpPr/>
          <p:nvPr/>
        </p:nvSpPr>
        <p:spPr>
          <a:xfrm>
            <a:off x="5422392" y="5907024"/>
            <a:ext cx="1005840" cy="292608"/>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58968" y="5943600"/>
            <a:ext cx="932688" cy="201168"/>
          </a:xfrm>
          <a:prstGeom prst="rect">
            <a:avLst/>
          </a:prstGeom>
          <a:noFill/>
        </p:spPr>
        <p:txBody>
          <a:bodyPr wrap="square" lIns="0" rIns="0" tIns="0" bIns="0" anchor="ctr">
            <a:spAutoFit/>
          </a:bodyPr>
          <a:lstStyle/>
          <a:p>
            <a:pPr algn="ctr">
              <a:spcAft>
                <a:spcPts val="300"/>
              </a:spcAft>
            </a:pPr>
            <a:r>
              <a:rPr sz="1000" b="1" i="0">
                <a:solidFill>
                  <a:srgbClr val="1E4336"/>
                </a:solidFill>
                <a:latin typeface="Aptos"/>
              </a:rPr>
              <a:t>Automation</a:t>
            </a:r>
          </a:p>
        </p:txBody>
      </p:sp>
      <p:sp>
        <p:nvSpPr>
          <p:cNvPr id="27" name="Rounded Rectangle 26"/>
          <p:cNvSpPr/>
          <p:nvPr/>
        </p:nvSpPr>
        <p:spPr>
          <a:xfrm>
            <a:off x="6537960" y="5907024"/>
            <a:ext cx="1188720" cy="292608"/>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74536" y="5943600"/>
            <a:ext cx="1115568" cy="201168"/>
          </a:xfrm>
          <a:prstGeom prst="rect">
            <a:avLst/>
          </a:prstGeom>
          <a:noFill/>
        </p:spPr>
        <p:txBody>
          <a:bodyPr wrap="square" lIns="0" rIns="0" tIns="0" bIns="0" anchor="ctr">
            <a:spAutoFit/>
          </a:bodyPr>
          <a:lstStyle/>
          <a:p>
            <a:pPr algn="ctr">
              <a:spcAft>
                <a:spcPts val="300"/>
              </a:spcAft>
            </a:pPr>
            <a:r>
              <a:rPr sz="1000" b="1" i="0">
                <a:solidFill>
                  <a:srgbClr val="1E4336"/>
                </a:solidFill>
                <a:latin typeface="Aptos"/>
              </a:rPr>
              <a:t>File handling</a:t>
            </a:r>
          </a:p>
        </p:txBody>
      </p:sp>
      <p:sp>
        <p:nvSpPr>
          <p:cNvPr id="29" name="Rounded Rectangle 28"/>
          <p:cNvSpPr/>
          <p:nvPr/>
        </p:nvSpPr>
        <p:spPr>
          <a:xfrm>
            <a:off x="7836408" y="5907024"/>
            <a:ext cx="1051560" cy="292608"/>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72983" y="5943600"/>
            <a:ext cx="978407" cy="201168"/>
          </a:xfrm>
          <a:prstGeom prst="rect">
            <a:avLst/>
          </a:prstGeom>
          <a:noFill/>
        </p:spPr>
        <p:txBody>
          <a:bodyPr wrap="square" lIns="0" rIns="0" tIns="0" bIns="0" anchor="ctr">
            <a:spAutoFit/>
          </a:bodyPr>
          <a:lstStyle/>
          <a:p>
            <a:pPr algn="ctr">
              <a:spcAft>
                <a:spcPts val="300"/>
              </a:spcAft>
            </a:pPr>
            <a:r>
              <a:rPr sz="1000" b="1" i="0">
                <a:solidFill>
                  <a:srgbClr val="1E4336"/>
                </a:solidFill>
                <a:latin typeface="Aptos"/>
              </a:rPr>
              <a:t>Collections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315200" cy="201168"/>
          </a:xfrm>
          <a:prstGeom prst="rect">
            <a:avLst/>
          </a:prstGeom>
          <a:noFill/>
        </p:spPr>
        <p:txBody>
          <a:bodyPr wrap="square" lIns="0" rIns="0" tIns="0" bIns="0" anchor="t">
            <a:spAutoFit/>
          </a:bodyPr>
          <a:lstStyle/>
          <a:p>
            <a:pPr algn="l">
              <a:spcAft>
                <a:spcPts val="300"/>
              </a:spcAft>
            </a:pPr>
            <a:r>
              <a:rPr sz="900" b="1" i="0">
                <a:solidFill>
                  <a:srgbClr val="1E4336"/>
                </a:solidFill>
                <a:latin typeface="Aptos"/>
              </a:rPr>
              <a:t>02 — PROBLEM STATEMENT</a:t>
            </a:r>
          </a:p>
        </p:txBody>
      </p:sp>
      <p:sp>
        <p:nvSpPr>
          <p:cNvPr id="4" name="TextBox 3"/>
          <p:cNvSpPr txBox="1"/>
          <p:nvPr/>
        </p:nvSpPr>
        <p:spPr>
          <a:xfrm>
            <a:off x="566928" y="658368"/>
            <a:ext cx="10972800" cy="530352"/>
          </a:xfrm>
          <a:prstGeom prst="rect">
            <a:avLst/>
          </a:prstGeom>
          <a:noFill/>
        </p:spPr>
        <p:txBody>
          <a:bodyPr wrap="square" lIns="0" rIns="0" tIns="0" bIns="0" anchor="t">
            <a:spAutoFit/>
          </a:bodyPr>
          <a:lstStyle/>
          <a:p>
            <a:pPr algn="l">
              <a:spcAft>
                <a:spcPts val="300"/>
              </a:spcAft>
            </a:pPr>
            <a:r>
              <a:rPr sz="2700" b="1" i="0">
                <a:solidFill>
                  <a:srgbClr val="1E4336"/>
                </a:solidFill>
                <a:latin typeface="Aptos"/>
              </a:rPr>
              <a:t>Understanding the Problem</a:t>
            </a:r>
          </a:p>
        </p:txBody>
      </p:sp>
      <p:sp>
        <p:nvSpPr>
          <p:cNvPr id="5" name="Rectangle 4"/>
          <p:cNvSpPr/>
          <p:nvPr/>
        </p:nvSpPr>
        <p:spPr>
          <a:xfrm>
            <a:off x="566928" y="1307592"/>
            <a:ext cx="713232" cy="502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52760" y="6519672"/>
            <a:ext cx="914400" cy="164592"/>
          </a:xfrm>
          <a:prstGeom prst="rect">
            <a:avLst/>
          </a:prstGeom>
          <a:noFill/>
        </p:spPr>
        <p:txBody>
          <a:bodyPr wrap="square" lIns="0" rIns="0" tIns="0" bIns="0" anchor="t">
            <a:spAutoFit/>
          </a:bodyPr>
          <a:lstStyle/>
          <a:p>
            <a:pPr algn="r">
              <a:spcAft>
                <a:spcPts val="300"/>
              </a:spcAft>
            </a:pPr>
            <a:r>
              <a:rPr sz="900" b="0" i="0">
                <a:solidFill>
                  <a:srgbClr val="6A776C"/>
                </a:solidFill>
                <a:latin typeface="Aptos"/>
              </a:rPr>
              <a:t>03  /  12</a:t>
            </a:r>
          </a:p>
        </p:txBody>
      </p:sp>
      <p:sp>
        <p:nvSpPr>
          <p:cNvPr id="7" name="TextBox 6"/>
          <p:cNvSpPr txBox="1"/>
          <p:nvPr/>
        </p:nvSpPr>
        <p:spPr>
          <a:xfrm>
            <a:off x="640080" y="1645920"/>
            <a:ext cx="10789920" cy="438912"/>
          </a:xfrm>
          <a:prstGeom prst="rect">
            <a:avLst/>
          </a:prstGeom>
          <a:noFill/>
        </p:spPr>
        <p:txBody>
          <a:bodyPr wrap="square" lIns="0" rIns="0" tIns="0" bIns="0" anchor="t">
            <a:spAutoFit/>
          </a:bodyPr>
          <a:lstStyle/>
          <a:p>
            <a:pPr algn="l">
              <a:spcAft>
                <a:spcPts val="300"/>
              </a:spcAft>
            </a:pPr>
            <a:r>
              <a:rPr sz="2200" b="1" i="0">
                <a:solidFill>
                  <a:srgbClr val="1E4336"/>
                </a:solidFill>
                <a:latin typeface="Aptos"/>
              </a:rPr>
              <a:t>Manual meal planning creates small tasks that add up.</a:t>
            </a:r>
          </a:p>
        </p:txBody>
      </p:sp>
      <p:sp>
        <p:nvSpPr>
          <p:cNvPr id="8" name="Rounded Rectangle 7"/>
          <p:cNvSpPr/>
          <p:nvPr/>
        </p:nvSpPr>
        <p:spPr>
          <a:xfrm>
            <a:off x="658368" y="2423160"/>
            <a:ext cx="3429000" cy="1874519"/>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2423160"/>
            <a:ext cx="82296" cy="1874519"/>
          </a:xfrm>
          <a:prstGeom prst="roundRect">
            <a:avLst>
              <a:gd name="adj" fmla="val 12000"/>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59689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01  PLAN</a:t>
            </a:r>
          </a:p>
        </p:txBody>
      </p:sp>
      <p:sp>
        <p:nvSpPr>
          <p:cNvPr id="11" name="TextBox 10"/>
          <p:cNvSpPr txBox="1"/>
          <p:nvPr/>
        </p:nvSpPr>
        <p:spPr>
          <a:xfrm>
            <a:off x="877824" y="2990088"/>
            <a:ext cx="3044952" cy="1179575"/>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Choose meals for seven days and multiple meal categories.</a:t>
            </a:r>
          </a:p>
        </p:txBody>
      </p:sp>
      <p:sp>
        <p:nvSpPr>
          <p:cNvPr id="12" name="Rounded Rectangle 11"/>
          <p:cNvSpPr/>
          <p:nvPr/>
        </p:nvSpPr>
        <p:spPr>
          <a:xfrm>
            <a:off x="4370832" y="2423160"/>
            <a:ext cx="3429000" cy="1874519"/>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0832" y="2423160"/>
            <a:ext cx="82296" cy="1874519"/>
          </a:xfrm>
          <a:prstGeom prst="roundRect">
            <a:avLst>
              <a:gd name="adj" fmla="val 12000"/>
            </a:avLst>
          </a:prstGeom>
          <a:solidFill>
            <a:srgbClr val="E6B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59689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02  CALCULATE</a:t>
            </a:r>
          </a:p>
        </p:txBody>
      </p:sp>
      <p:sp>
        <p:nvSpPr>
          <p:cNvPr id="15" name="TextBox 14"/>
          <p:cNvSpPr txBox="1"/>
          <p:nvPr/>
        </p:nvSpPr>
        <p:spPr>
          <a:xfrm>
            <a:off x="4590288" y="2990088"/>
            <a:ext cx="3044952" cy="1179575"/>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Collect ingredients and combine repeated items and quantities.</a:t>
            </a:r>
          </a:p>
        </p:txBody>
      </p:sp>
      <p:sp>
        <p:nvSpPr>
          <p:cNvPr id="16" name="Rounded Rectangle 15"/>
          <p:cNvSpPr/>
          <p:nvPr/>
        </p:nvSpPr>
        <p:spPr>
          <a:xfrm>
            <a:off x="8083296" y="2423160"/>
            <a:ext cx="3429000" cy="1874519"/>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83296" y="2423160"/>
            <a:ext cx="82296" cy="1874519"/>
          </a:xfrm>
          <a:prstGeom prst="roundRect">
            <a:avLst>
              <a:gd name="adj" fmla="val 12000"/>
            </a:avLst>
          </a:prstGeom>
          <a:solidFill>
            <a:srgbClr val="B2CA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259689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03  SHOP</a:t>
            </a:r>
          </a:p>
        </p:txBody>
      </p:sp>
      <p:sp>
        <p:nvSpPr>
          <p:cNvPr id="19" name="TextBox 18"/>
          <p:cNvSpPr txBox="1"/>
          <p:nvPr/>
        </p:nvSpPr>
        <p:spPr>
          <a:xfrm>
            <a:off x="8302752" y="2990088"/>
            <a:ext cx="3044952" cy="1179575"/>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Create a clear list to help avoid forgotten or unnecessary purchases.</a:t>
            </a:r>
          </a:p>
        </p:txBody>
      </p:sp>
      <p:sp>
        <p:nvSpPr>
          <p:cNvPr id="20" name="Rounded Rectangle 19"/>
          <p:cNvSpPr/>
          <p:nvPr/>
        </p:nvSpPr>
        <p:spPr>
          <a:xfrm>
            <a:off x="713232" y="4709160"/>
            <a:ext cx="10698480" cy="960120"/>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4919472"/>
            <a:ext cx="1645920" cy="219456"/>
          </a:xfrm>
          <a:prstGeom prst="rect">
            <a:avLst/>
          </a:prstGeom>
          <a:noFill/>
        </p:spPr>
        <p:txBody>
          <a:bodyPr wrap="square" lIns="0" rIns="0" tIns="0" bIns="0" anchor="t">
            <a:spAutoFit/>
          </a:bodyPr>
          <a:lstStyle/>
          <a:p>
            <a:pPr algn="l">
              <a:spcAft>
                <a:spcPts val="300"/>
              </a:spcAft>
            </a:pPr>
            <a:r>
              <a:rPr sz="1000" b="1" i="0">
                <a:solidFill>
                  <a:srgbClr val="1E4336"/>
                </a:solidFill>
                <a:latin typeface="Aptos"/>
              </a:rPr>
              <a:t>PROJECT OBJECTIVE</a:t>
            </a:r>
          </a:p>
        </p:txBody>
      </p:sp>
      <p:sp>
        <p:nvSpPr>
          <p:cNvPr id="22" name="TextBox 21"/>
          <p:cNvSpPr txBox="1"/>
          <p:nvPr/>
        </p:nvSpPr>
        <p:spPr>
          <a:xfrm>
            <a:off x="2697480" y="4864608"/>
            <a:ext cx="8321040" cy="393192"/>
          </a:xfrm>
          <a:prstGeom prst="rect">
            <a:avLst/>
          </a:prstGeom>
          <a:noFill/>
        </p:spPr>
        <p:txBody>
          <a:bodyPr wrap="square" lIns="0" rIns="0" tIns="0" bIns="0" anchor="t">
            <a:spAutoFit/>
          </a:bodyPr>
          <a:lstStyle/>
          <a:p>
            <a:pPr algn="l">
              <a:spcAft>
                <a:spcPts val="300"/>
              </a:spcAft>
            </a:pPr>
            <a:r>
              <a:rPr sz="1600" b="1" i="0">
                <a:solidFill>
                  <a:srgbClr val="1E4336"/>
                </a:solidFill>
                <a:latin typeface="Aptos"/>
              </a:rPr>
              <a:t>Automate weekly scheduling and grocery-list generation through a simple, user-friendly Java program.</a:t>
            </a:r>
          </a:p>
        </p:txBody>
      </p:sp>
      <p:sp>
        <p:nvSpPr>
          <p:cNvPr id="23" name="Rounded Rectangle 22"/>
          <p:cNvSpPr/>
          <p:nvPr/>
        </p:nvSpPr>
        <p:spPr>
          <a:xfrm>
            <a:off x="749808" y="5925312"/>
            <a:ext cx="1143000" cy="292608"/>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5961888"/>
            <a:ext cx="1069848" cy="201168"/>
          </a:xfrm>
          <a:prstGeom prst="rect">
            <a:avLst/>
          </a:prstGeom>
          <a:noFill/>
        </p:spPr>
        <p:txBody>
          <a:bodyPr wrap="square" lIns="0" rIns="0" tIns="0" bIns="0" anchor="ctr">
            <a:spAutoFit/>
          </a:bodyPr>
          <a:lstStyle/>
          <a:p>
            <a:pPr algn="ctr">
              <a:spcAft>
                <a:spcPts val="300"/>
              </a:spcAft>
            </a:pPr>
            <a:r>
              <a:rPr sz="1000" b="1" i="0">
                <a:solidFill>
                  <a:srgbClr val="1E4336"/>
                </a:solidFill>
                <a:latin typeface="Aptos"/>
              </a:rPr>
              <a:t>Less effort</a:t>
            </a:r>
          </a:p>
        </p:txBody>
      </p:sp>
      <p:sp>
        <p:nvSpPr>
          <p:cNvPr id="25" name="Rounded Rectangle 24"/>
          <p:cNvSpPr/>
          <p:nvPr/>
        </p:nvSpPr>
        <p:spPr>
          <a:xfrm>
            <a:off x="2029968" y="5925312"/>
            <a:ext cx="1508760" cy="292608"/>
          </a:xfrm>
          <a:prstGeom prst="roundRect">
            <a:avLst>
              <a:gd name="adj" fmla="val 12000"/>
            </a:avLst>
          </a:prstGeom>
          <a:solidFill>
            <a:srgbClr val="F7D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66544" y="5961888"/>
            <a:ext cx="1435607" cy="201168"/>
          </a:xfrm>
          <a:prstGeom prst="rect">
            <a:avLst/>
          </a:prstGeom>
          <a:noFill/>
        </p:spPr>
        <p:txBody>
          <a:bodyPr wrap="square" lIns="0" rIns="0" tIns="0" bIns="0" anchor="ctr">
            <a:spAutoFit/>
          </a:bodyPr>
          <a:lstStyle/>
          <a:p>
            <a:pPr algn="ctr">
              <a:spcAft>
                <a:spcPts val="300"/>
              </a:spcAft>
            </a:pPr>
            <a:r>
              <a:rPr sz="1000" b="1" i="0">
                <a:solidFill>
                  <a:srgbClr val="1E4336"/>
                </a:solidFill>
                <a:latin typeface="Aptos"/>
              </a:rPr>
              <a:t>Fewer duplicates</a:t>
            </a:r>
          </a:p>
        </p:txBody>
      </p:sp>
      <p:sp>
        <p:nvSpPr>
          <p:cNvPr id="27" name="Rounded Rectangle 26"/>
          <p:cNvSpPr/>
          <p:nvPr/>
        </p:nvSpPr>
        <p:spPr>
          <a:xfrm>
            <a:off x="3675887" y="5925312"/>
            <a:ext cx="1691640" cy="292608"/>
          </a:xfrm>
          <a:prstGeom prst="roundRect">
            <a:avLst>
              <a:gd name="adj" fmla="val 12000"/>
            </a:avLst>
          </a:prstGeom>
          <a:solidFill>
            <a:srgbClr val="F1E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12463" y="5961888"/>
            <a:ext cx="1618488" cy="201168"/>
          </a:xfrm>
          <a:prstGeom prst="rect">
            <a:avLst/>
          </a:prstGeom>
          <a:noFill/>
        </p:spPr>
        <p:txBody>
          <a:bodyPr wrap="square" lIns="0" rIns="0" tIns="0" bIns="0" anchor="ctr">
            <a:spAutoFit/>
          </a:bodyPr>
          <a:lstStyle/>
          <a:p>
            <a:pPr algn="ctr">
              <a:spcAft>
                <a:spcPts val="300"/>
              </a:spcAft>
            </a:pPr>
            <a:r>
              <a:rPr sz="1000" b="1" i="0">
                <a:solidFill>
                  <a:srgbClr val="1E4336"/>
                </a:solidFill>
                <a:latin typeface="Aptos"/>
              </a:rPr>
              <a:t>Better organization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315200" cy="201168"/>
          </a:xfrm>
          <a:prstGeom prst="rect">
            <a:avLst/>
          </a:prstGeom>
          <a:noFill/>
        </p:spPr>
        <p:txBody>
          <a:bodyPr wrap="square" lIns="0" rIns="0" tIns="0" bIns="0" anchor="t">
            <a:spAutoFit/>
          </a:bodyPr>
          <a:lstStyle/>
          <a:p>
            <a:pPr algn="l">
              <a:spcAft>
                <a:spcPts val="300"/>
              </a:spcAft>
            </a:pPr>
            <a:r>
              <a:rPr sz="900" b="1" i="0">
                <a:solidFill>
                  <a:srgbClr val="1E4336"/>
                </a:solidFill>
                <a:latin typeface="Aptos"/>
              </a:rPr>
              <a:t>CO1 · MODULE 1 — COMPUTATIONAL THINKING &amp; JAVA FOUNDATIONS</a:t>
            </a:r>
          </a:p>
        </p:txBody>
      </p:sp>
      <p:sp>
        <p:nvSpPr>
          <p:cNvPr id="4" name="TextBox 3"/>
          <p:cNvSpPr txBox="1"/>
          <p:nvPr/>
        </p:nvSpPr>
        <p:spPr>
          <a:xfrm>
            <a:off x="566928" y="658368"/>
            <a:ext cx="10972800" cy="530352"/>
          </a:xfrm>
          <a:prstGeom prst="rect">
            <a:avLst/>
          </a:prstGeom>
          <a:noFill/>
        </p:spPr>
        <p:txBody>
          <a:bodyPr wrap="square" lIns="0" rIns="0" tIns="0" bIns="0" anchor="t">
            <a:spAutoFit/>
          </a:bodyPr>
          <a:lstStyle/>
          <a:p>
            <a:pPr algn="l">
              <a:spcAft>
                <a:spcPts val="300"/>
              </a:spcAft>
            </a:pPr>
            <a:r>
              <a:rPr sz="2700" b="1" i="0">
                <a:solidFill>
                  <a:srgbClr val="1E4336"/>
                </a:solidFill>
                <a:latin typeface="Aptos"/>
              </a:rPr>
              <a:t>From Problem to Program</a:t>
            </a:r>
          </a:p>
        </p:txBody>
      </p:sp>
      <p:sp>
        <p:nvSpPr>
          <p:cNvPr id="5" name="Rectangle 4"/>
          <p:cNvSpPr/>
          <p:nvPr/>
        </p:nvSpPr>
        <p:spPr>
          <a:xfrm>
            <a:off x="566928" y="1307592"/>
            <a:ext cx="713232" cy="502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52760" y="6519672"/>
            <a:ext cx="914400" cy="164592"/>
          </a:xfrm>
          <a:prstGeom prst="rect">
            <a:avLst/>
          </a:prstGeom>
          <a:noFill/>
        </p:spPr>
        <p:txBody>
          <a:bodyPr wrap="square" lIns="0" rIns="0" tIns="0" bIns="0" anchor="t">
            <a:spAutoFit/>
          </a:bodyPr>
          <a:lstStyle/>
          <a:p>
            <a:pPr algn="r">
              <a:spcAft>
                <a:spcPts val="300"/>
              </a:spcAft>
            </a:pPr>
            <a:r>
              <a:rPr sz="900" b="0" i="0">
                <a:solidFill>
                  <a:srgbClr val="6A776C"/>
                </a:solidFill>
                <a:latin typeface="Aptos"/>
              </a:rPr>
              <a:t>04  /  12</a:t>
            </a:r>
          </a:p>
        </p:txBody>
      </p:sp>
      <p:sp>
        <p:nvSpPr>
          <p:cNvPr id="7" name="TextBox 6"/>
          <p:cNvSpPr txBox="1"/>
          <p:nvPr/>
        </p:nvSpPr>
        <p:spPr>
          <a:xfrm>
            <a:off x="640080" y="1600200"/>
            <a:ext cx="10789920" cy="384048"/>
          </a:xfrm>
          <a:prstGeom prst="rect">
            <a:avLst/>
          </a:prstGeom>
          <a:noFill/>
        </p:spPr>
        <p:txBody>
          <a:bodyPr wrap="square" lIns="0" rIns="0" tIns="0" bIns="0" anchor="t">
            <a:spAutoFit/>
          </a:bodyPr>
          <a:lstStyle/>
          <a:p>
            <a:pPr algn="l">
              <a:spcAft>
                <a:spcPts val="300"/>
              </a:spcAft>
            </a:pPr>
            <a:r>
              <a:rPr sz="1700" b="0" i="0">
                <a:solidFill>
                  <a:srgbClr val="2D3931"/>
                </a:solidFill>
                <a:latin typeface="Aptos"/>
              </a:rPr>
              <a:t>Build a solution by breaking the task into logical, testable steps.</a:t>
            </a:r>
          </a:p>
        </p:txBody>
      </p:sp>
      <p:sp>
        <p:nvSpPr>
          <p:cNvPr id="8" name="Rounded Rectangle 7"/>
          <p:cNvSpPr/>
          <p:nvPr/>
        </p:nvSpPr>
        <p:spPr>
          <a:xfrm>
            <a:off x="658368" y="2212848"/>
            <a:ext cx="3429000" cy="196596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2212848"/>
            <a:ext cx="82296" cy="1965960"/>
          </a:xfrm>
          <a:prstGeom prst="roundRect">
            <a:avLst>
              <a:gd name="adj" fmla="val 12000"/>
            </a:avLst>
          </a:prstGeom>
          <a:solidFill>
            <a:srgbClr val="B2CA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386584"/>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THINK</a:t>
            </a:r>
          </a:p>
        </p:txBody>
      </p:sp>
      <p:sp>
        <p:nvSpPr>
          <p:cNvPr id="11" name="TextBox 10"/>
          <p:cNvSpPr txBox="1"/>
          <p:nvPr/>
        </p:nvSpPr>
        <p:spPr>
          <a:xfrm>
            <a:off x="877824" y="2779776"/>
            <a:ext cx="3044952" cy="127101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Identify inputs (meal choices), processing (ingredient aggregation) and outputs (plan and list).</a:t>
            </a:r>
          </a:p>
        </p:txBody>
      </p:sp>
      <p:sp>
        <p:nvSpPr>
          <p:cNvPr id="12" name="Rounded Rectangle 11"/>
          <p:cNvSpPr/>
          <p:nvPr/>
        </p:nvSpPr>
        <p:spPr>
          <a:xfrm>
            <a:off x="4370832" y="2212848"/>
            <a:ext cx="3429000" cy="196596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0832" y="2212848"/>
            <a:ext cx="82296" cy="1965960"/>
          </a:xfrm>
          <a:prstGeom prst="roundRect">
            <a:avLst>
              <a:gd name="adj" fmla="val 12000"/>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386584"/>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DESIGN</a:t>
            </a:r>
          </a:p>
        </p:txBody>
      </p:sp>
      <p:sp>
        <p:nvSpPr>
          <p:cNvPr id="15" name="TextBox 14"/>
          <p:cNvSpPr txBox="1"/>
          <p:nvPr/>
        </p:nvSpPr>
        <p:spPr>
          <a:xfrm>
            <a:off x="4590288" y="2779776"/>
            <a:ext cx="3044952" cy="127101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Represent the steps with an algorithm or flowchart before writing code.</a:t>
            </a:r>
          </a:p>
        </p:txBody>
      </p:sp>
      <p:sp>
        <p:nvSpPr>
          <p:cNvPr id="16" name="Rounded Rectangle 15"/>
          <p:cNvSpPr/>
          <p:nvPr/>
        </p:nvSpPr>
        <p:spPr>
          <a:xfrm>
            <a:off x="8083296" y="2212848"/>
            <a:ext cx="3429000" cy="196596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83296" y="2212848"/>
            <a:ext cx="82296" cy="1965960"/>
          </a:xfrm>
          <a:prstGeom prst="roundRect">
            <a:avLst>
              <a:gd name="adj" fmla="val 12000"/>
            </a:avLst>
          </a:prstGeom>
          <a:solidFill>
            <a:srgbClr val="E6B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2386584"/>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CODE</a:t>
            </a:r>
          </a:p>
        </p:txBody>
      </p:sp>
      <p:sp>
        <p:nvSpPr>
          <p:cNvPr id="19" name="TextBox 18"/>
          <p:cNvSpPr txBox="1"/>
          <p:nvPr/>
        </p:nvSpPr>
        <p:spPr>
          <a:xfrm>
            <a:off x="8302752" y="2779776"/>
            <a:ext cx="3044952" cy="127101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Use Java structure, variables, data types, operators and Scanner for console input.</a:t>
            </a:r>
          </a:p>
        </p:txBody>
      </p:sp>
      <p:sp>
        <p:nvSpPr>
          <p:cNvPr id="20" name="TextBox 19"/>
          <p:cNvSpPr txBox="1"/>
          <p:nvPr/>
        </p:nvSpPr>
        <p:spPr>
          <a:xfrm>
            <a:off x="713232" y="4617720"/>
            <a:ext cx="2194560" cy="228600"/>
          </a:xfrm>
          <a:prstGeom prst="rect">
            <a:avLst/>
          </a:prstGeom>
          <a:noFill/>
        </p:spPr>
        <p:txBody>
          <a:bodyPr wrap="square" lIns="0" rIns="0" tIns="0" bIns="0" anchor="t">
            <a:spAutoFit/>
          </a:bodyPr>
          <a:lstStyle/>
          <a:p>
            <a:pPr algn="l">
              <a:spcAft>
                <a:spcPts val="300"/>
              </a:spcAft>
            </a:pPr>
            <a:r>
              <a:rPr sz="1000" b="1" i="0">
                <a:solidFill>
                  <a:srgbClr val="1E4336"/>
                </a:solidFill>
                <a:latin typeface="Aptos"/>
              </a:rPr>
              <a:t>FOUNDATION TOOLKIT</a:t>
            </a:r>
          </a:p>
        </p:txBody>
      </p:sp>
      <p:sp>
        <p:nvSpPr>
          <p:cNvPr id="21" name="Rounded Rectangle 20"/>
          <p:cNvSpPr/>
          <p:nvPr/>
        </p:nvSpPr>
        <p:spPr>
          <a:xfrm>
            <a:off x="749808" y="5047488"/>
            <a:ext cx="1280160" cy="292608"/>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5084064"/>
            <a:ext cx="1207007" cy="201168"/>
          </a:xfrm>
          <a:prstGeom prst="rect">
            <a:avLst/>
          </a:prstGeom>
          <a:noFill/>
        </p:spPr>
        <p:txBody>
          <a:bodyPr wrap="square" lIns="0" rIns="0" tIns="0" bIns="0" anchor="ctr">
            <a:spAutoFit/>
          </a:bodyPr>
          <a:lstStyle/>
          <a:p>
            <a:pPr algn="ctr">
              <a:spcAft>
                <a:spcPts val="300"/>
              </a:spcAft>
            </a:pPr>
            <a:r>
              <a:rPr sz="1000" b="1" i="0">
                <a:solidFill>
                  <a:srgbClr val="1E4336"/>
                </a:solidFill>
                <a:latin typeface="Aptos"/>
              </a:rPr>
              <a:t>Primitive types</a:t>
            </a:r>
          </a:p>
        </p:txBody>
      </p:sp>
      <p:sp>
        <p:nvSpPr>
          <p:cNvPr id="23" name="Rounded Rectangle 22"/>
          <p:cNvSpPr/>
          <p:nvPr/>
        </p:nvSpPr>
        <p:spPr>
          <a:xfrm>
            <a:off x="2167127" y="5047488"/>
            <a:ext cx="1645920" cy="292608"/>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03703" y="5084064"/>
            <a:ext cx="1572768" cy="201168"/>
          </a:xfrm>
          <a:prstGeom prst="rect">
            <a:avLst/>
          </a:prstGeom>
          <a:noFill/>
        </p:spPr>
        <p:txBody>
          <a:bodyPr wrap="square" lIns="0" rIns="0" tIns="0" bIns="0" anchor="ctr">
            <a:spAutoFit/>
          </a:bodyPr>
          <a:lstStyle/>
          <a:p>
            <a:pPr algn="ctr">
              <a:spcAft>
                <a:spcPts val="300"/>
              </a:spcAft>
            </a:pPr>
            <a:r>
              <a:rPr sz="1000" b="1" i="0">
                <a:solidFill>
                  <a:srgbClr val="1E4336"/>
                </a:solidFill>
                <a:latin typeface="Aptos"/>
              </a:rPr>
              <a:t>Variables &amp; constants</a:t>
            </a:r>
          </a:p>
        </p:txBody>
      </p:sp>
      <p:sp>
        <p:nvSpPr>
          <p:cNvPr id="25" name="Rounded Rectangle 24"/>
          <p:cNvSpPr/>
          <p:nvPr/>
        </p:nvSpPr>
        <p:spPr>
          <a:xfrm>
            <a:off x="3950208" y="5047488"/>
            <a:ext cx="960120" cy="292608"/>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86784" y="5084064"/>
            <a:ext cx="886968" cy="201168"/>
          </a:xfrm>
          <a:prstGeom prst="rect">
            <a:avLst/>
          </a:prstGeom>
          <a:noFill/>
        </p:spPr>
        <p:txBody>
          <a:bodyPr wrap="square" lIns="0" rIns="0" tIns="0" bIns="0" anchor="ctr">
            <a:spAutoFit/>
          </a:bodyPr>
          <a:lstStyle/>
          <a:p>
            <a:pPr algn="ctr">
              <a:spcAft>
                <a:spcPts val="300"/>
              </a:spcAft>
            </a:pPr>
            <a:r>
              <a:rPr sz="1000" b="1" i="0">
                <a:solidFill>
                  <a:srgbClr val="1E4336"/>
                </a:solidFill>
                <a:latin typeface="Aptos"/>
              </a:rPr>
              <a:t>Operators</a:t>
            </a:r>
          </a:p>
        </p:txBody>
      </p:sp>
      <p:sp>
        <p:nvSpPr>
          <p:cNvPr id="27" name="Rounded Rectangle 26"/>
          <p:cNvSpPr/>
          <p:nvPr/>
        </p:nvSpPr>
        <p:spPr>
          <a:xfrm>
            <a:off x="5047488" y="5047488"/>
            <a:ext cx="1051560" cy="292608"/>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84064" y="5084064"/>
            <a:ext cx="978407" cy="201168"/>
          </a:xfrm>
          <a:prstGeom prst="rect">
            <a:avLst/>
          </a:prstGeom>
          <a:noFill/>
        </p:spPr>
        <p:txBody>
          <a:bodyPr wrap="square" lIns="0" rIns="0" tIns="0" bIns="0" anchor="ctr">
            <a:spAutoFit/>
          </a:bodyPr>
          <a:lstStyle/>
          <a:p>
            <a:pPr algn="ctr">
              <a:spcAft>
                <a:spcPts val="300"/>
              </a:spcAft>
            </a:pPr>
            <a:r>
              <a:rPr sz="1000" b="1" i="0">
                <a:solidFill>
                  <a:srgbClr val="1E4336"/>
                </a:solidFill>
                <a:latin typeface="Aptos"/>
              </a:rPr>
              <a:t>Expressions</a:t>
            </a:r>
          </a:p>
        </p:txBody>
      </p:sp>
      <p:sp>
        <p:nvSpPr>
          <p:cNvPr id="29" name="Rounded Rectangle 28"/>
          <p:cNvSpPr/>
          <p:nvPr/>
        </p:nvSpPr>
        <p:spPr>
          <a:xfrm>
            <a:off x="6236208" y="5047488"/>
            <a:ext cx="1097280" cy="292608"/>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72784" y="5084064"/>
            <a:ext cx="1024127" cy="201168"/>
          </a:xfrm>
          <a:prstGeom prst="rect">
            <a:avLst/>
          </a:prstGeom>
          <a:noFill/>
        </p:spPr>
        <p:txBody>
          <a:bodyPr wrap="square" lIns="0" rIns="0" tIns="0" bIns="0" anchor="ctr">
            <a:spAutoFit/>
          </a:bodyPr>
          <a:lstStyle/>
          <a:p>
            <a:pPr algn="ctr">
              <a:spcAft>
                <a:spcPts val="300"/>
              </a:spcAft>
            </a:pPr>
            <a:r>
              <a:rPr sz="1000" b="1" i="0">
                <a:solidFill>
                  <a:srgbClr val="1E4336"/>
                </a:solidFill>
                <a:latin typeface="Aptos"/>
              </a:rPr>
              <a:t>Console I/O</a:t>
            </a:r>
          </a:p>
        </p:txBody>
      </p:sp>
      <p:sp>
        <p:nvSpPr>
          <p:cNvPr id="31" name="TextBox 30"/>
          <p:cNvSpPr txBox="1"/>
          <p:nvPr/>
        </p:nvSpPr>
        <p:spPr>
          <a:xfrm>
            <a:off x="749808" y="5779008"/>
            <a:ext cx="10424160" cy="320040"/>
          </a:xfrm>
          <a:prstGeom prst="rect">
            <a:avLst/>
          </a:prstGeom>
          <a:noFill/>
        </p:spPr>
        <p:txBody>
          <a:bodyPr wrap="square" lIns="0" rIns="0" tIns="0" bIns="0" anchor="t">
            <a:spAutoFit/>
          </a:bodyPr>
          <a:lstStyle/>
          <a:p>
            <a:pPr algn="l">
              <a:spcAft>
                <a:spcPts val="300"/>
              </a:spcAft>
            </a:pPr>
            <a:r>
              <a:rPr sz="1600" b="1" i="0">
                <a:solidFill>
                  <a:srgbClr val="1E4336"/>
                </a:solidFill>
                <a:latin typeface="Aptos"/>
              </a:rPr>
              <a:t>Outcome: a clear algorithm becomes a structured Java program.</a:t>
            </a:r>
          </a:p>
        </p:txBody>
      </p:sp>
      <p:sp>
        <p:nvSpPr>
          <p:cNvPr id="32" name="Rectangle 31"/>
          <p:cNvSpPr/>
          <p:nvPr/>
        </p:nvSpPr>
        <p:spPr>
          <a:xfrm>
            <a:off x="10469880" y="347472"/>
            <a:ext cx="960120" cy="3931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tIns="9144" bIns="9144"/>
          <a:lstStyle/>
          <a:p>
            <a:pPr algn="ctr"/>
            <a:r>
              <a:rPr sz="1400" b="1">
                <a:solidFill>
                  <a:srgbClr val="FFFFFF"/>
                </a:solidFill>
                <a:latin typeface="Aptos"/>
              </a:rPr>
              <a:t>CO1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315200" cy="201168"/>
          </a:xfrm>
          <a:prstGeom prst="rect">
            <a:avLst/>
          </a:prstGeom>
          <a:noFill/>
        </p:spPr>
        <p:txBody>
          <a:bodyPr wrap="square" lIns="0" rIns="0" tIns="0" bIns="0" anchor="t">
            <a:spAutoFit/>
          </a:bodyPr>
          <a:lstStyle/>
          <a:p>
            <a:pPr algn="l">
              <a:spcAft>
                <a:spcPts val="300"/>
              </a:spcAft>
            </a:pPr>
            <a:r>
              <a:rPr sz="900" b="1" i="0">
                <a:solidFill>
                  <a:srgbClr val="1E4336"/>
                </a:solidFill>
                <a:latin typeface="Aptos"/>
              </a:rPr>
              <a:t>CO2 · MODULE 2 — CONTROL FLOW</a:t>
            </a:r>
          </a:p>
        </p:txBody>
      </p:sp>
      <p:sp>
        <p:nvSpPr>
          <p:cNvPr id="4" name="TextBox 3"/>
          <p:cNvSpPr txBox="1"/>
          <p:nvPr/>
        </p:nvSpPr>
        <p:spPr>
          <a:xfrm>
            <a:off x="566928" y="658368"/>
            <a:ext cx="10972800" cy="530352"/>
          </a:xfrm>
          <a:prstGeom prst="rect">
            <a:avLst/>
          </a:prstGeom>
          <a:noFill/>
        </p:spPr>
        <p:txBody>
          <a:bodyPr wrap="square" lIns="0" rIns="0" tIns="0" bIns="0" anchor="t">
            <a:spAutoFit/>
          </a:bodyPr>
          <a:lstStyle/>
          <a:p>
            <a:pPr algn="l">
              <a:spcAft>
                <a:spcPts val="300"/>
              </a:spcAft>
            </a:pPr>
            <a:r>
              <a:rPr sz="2700" b="1" i="0">
                <a:solidFill>
                  <a:srgbClr val="1E4336"/>
                </a:solidFill>
                <a:latin typeface="Aptos"/>
              </a:rPr>
              <a:t>Control Flow: Selection &amp; Iteration</a:t>
            </a:r>
          </a:p>
        </p:txBody>
      </p:sp>
      <p:sp>
        <p:nvSpPr>
          <p:cNvPr id="5" name="Rectangle 4"/>
          <p:cNvSpPr/>
          <p:nvPr/>
        </p:nvSpPr>
        <p:spPr>
          <a:xfrm>
            <a:off x="566928" y="1307592"/>
            <a:ext cx="713232" cy="502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52760" y="6519672"/>
            <a:ext cx="914400" cy="164592"/>
          </a:xfrm>
          <a:prstGeom prst="rect">
            <a:avLst/>
          </a:prstGeom>
          <a:noFill/>
        </p:spPr>
        <p:txBody>
          <a:bodyPr wrap="square" lIns="0" rIns="0" tIns="0" bIns="0" anchor="t">
            <a:spAutoFit/>
          </a:bodyPr>
          <a:lstStyle/>
          <a:p>
            <a:pPr algn="r">
              <a:spcAft>
                <a:spcPts val="300"/>
              </a:spcAft>
            </a:pPr>
            <a:r>
              <a:rPr sz="900" b="0" i="0">
                <a:solidFill>
                  <a:srgbClr val="6A776C"/>
                </a:solidFill>
                <a:latin typeface="Aptos"/>
              </a:rPr>
              <a:t>05  /  12</a:t>
            </a:r>
          </a:p>
        </p:txBody>
      </p:sp>
      <p:sp>
        <p:nvSpPr>
          <p:cNvPr id="7" name="TextBox 6"/>
          <p:cNvSpPr txBox="1"/>
          <p:nvPr/>
        </p:nvSpPr>
        <p:spPr>
          <a:xfrm>
            <a:off x="640080" y="1600200"/>
            <a:ext cx="10789920" cy="457200"/>
          </a:xfrm>
          <a:prstGeom prst="rect">
            <a:avLst/>
          </a:prstGeom>
          <a:noFill/>
        </p:spPr>
        <p:txBody>
          <a:bodyPr wrap="square" lIns="0" rIns="0" tIns="0" bIns="0" anchor="t">
            <a:spAutoFit/>
          </a:bodyPr>
          <a:lstStyle/>
          <a:p>
            <a:pPr algn="l">
              <a:spcAft>
                <a:spcPts val="300"/>
              </a:spcAft>
            </a:pPr>
            <a:r>
              <a:rPr sz="1700" b="0" i="0">
                <a:solidFill>
                  <a:srgbClr val="2D3931"/>
                </a:solidFill>
                <a:latin typeface="Aptos"/>
              </a:rPr>
              <a:t>The program must make decisions and repeat work across days, meals and ingredients.</a:t>
            </a:r>
          </a:p>
        </p:txBody>
      </p:sp>
      <p:sp>
        <p:nvSpPr>
          <p:cNvPr id="8" name="Rounded Rectangle 7"/>
          <p:cNvSpPr/>
          <p:nvPr/>
        </p:nvSpPr>
        <p:spPr>
          <a:xfrm>
            <a:off x="658368" y="2286000"/>
            <a:ext cx="3429000" cy="201168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2286000"/>
            <a:ext cx="82296" cy="2011680"/>
          </a:xfrm>
          <a:prstGeom prst="roundRect">
            <a:avLst>
              <a:gd name="adj" fmla="val 12000"/>
            </a:avLst>
          </a:prstGeom>
          <a:solidFill>
            <a:srgbClr val="B2CA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45973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SELECTION</a:t>
            </a:r>
          </a:p>
        </p:txBody>
      </p:sp>
      <p:sp>
        <p:nvSpPr>
          <p:cNvPr id="11" name="TextBox 10"/>
          <p:cNvSpPr txBox="1"/>
          <p:nvPr/>
        </p:nvSpPr>
        <p:spPr>
          <a:xfrm>
            <a:off x="877824" y="2852928"/>
            <a:ext cx="3044952" cy="131673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if, if–else and switch can handle menu options such as add, remove, view or generate.</a:t>
            </a:r>
          </a:p>
        </p:txBody>
      </p:sp>
      <p:sp>
        <p:nvSpPr>
          <p:cNvPr id="12" name="Rounded Rectangle 11"/>
          <p:cNvSpPr/>
          <p:nvPr/>
        </p:nvSpPr>
        <p:spPr>
          <a:xfrm>
            <a:off x="4370832" y="2286000"/>
            <a:ext cx="3429000" cy="201168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0832" y="2286000"/>
            <a:ext cx="82296" cy="2011680"/>
          </a:xfrm>
          <a:prstGeom prst="roundRect">
            <a:avLst>
              <a:gd name="adj" fmla="val 12000"/>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45973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LOOPS</a:t>
            </a:r>
          </a:p>
        </p:txBody>
      </p:sp>
      <p:sp>
        <p:nvSpPr>
          <p:cNvPr id="15" name="TextBox 14"/>
          <p:cNvSpPr txBox="1"/>
          <p:nvPr/>
        </p:nvSpPr>
        <p:spPr>
          <a:xfrm>
            <a:off x="4590288" y="2852928"/>
            <a:ext cx="3044952" cy="131673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for, while and do–while can process each day and each selected meal.</a:t>
            </a:r>
          </a:p>
        </p:txBody>
      </p:sp>
      <p:sp>
        <p:nvSpPr>
          <p:cNvPr id="16" name="Rounded Rectangle 15"/>
          <p:cNvSpPr/>
          <p:nvPr/>
        </p:nvSpPr>
        <p:spPr>
          <a:xfrm>
            <a:off x="8083296" y="2286000"/>
            <a:ext cx="3429000" cy="201168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83296" y="2286000"/>
            <a:ext cx="82296" cy="2011680"/>
          </a:xfrm>
          <a:prstGeom prst="roundRect">
            <a:avLst>
              <a:gd name="adj" fmla="val 12000"/>
            </a:avLst>
          </a:prstGeom>
          <a:solidFill>
            <a:srgbClr val="E6B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245973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SAFE FLOW</a:t>
            </a:r>
          </a:p>
        </p:txBody>
      </p:sp>
      <p:sp>
        <p:nvSpPr>
          <p:cNvPr id="19" name="TextBox 18"/>
          <p:cNvSpPr txBox="1"/>
          <p:nvPr/>
        </p:nvSpPr>
        <p:spPr>
          <a:xfrm>
            <a:off x="8302752" y="2852928"/>
            <a:ext cx="3044952" cy="131673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Use break and continue intentionally; check loop conditions to avoid infinite loops.</a:t>
            </a:r>
          </a:p>
        </p:txBody>
      </p:sp>
      <p:sp>
        <p:nvSpPr>
          <p:cNvPr id="20" name="Rounded Rectangle 19"/>
          <p:cNvSpPr/>
          <p:nvPr/>
        </p:nvSpPr>
        <p:spPr>
          <a:xfrm>
            <a:off x="731520" y="4736592"/>
            <a:ext cx="10652760" cy="868680"/>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020056"/>
            <a:ext cx="914400" cy="210312"/>
          </a:xfrm>
          <a:prstGeom prst="rect">
            <a:avLst/>
          </a:prstGeom>
          <a:noFill/>
        </p:spPr>
        <p:txBody>
          <a:bodyPr wrap="square" lIns="0" rIns="0" tIns="0" bIns="0" anchor="t">
            <a:spAutoFit/>
          </a:bodyPr>
          <a:lstStyle/>
          <a:p>
            <a:pPr algn="l">
              <a:spcAft>
                <a:spcPts val="300"/>
              </a:spcAft>
            </a:pPr>
            <a:r>
              <a:rPr sz="1000" b="1" i="0">
                <a:solidFill>
                  <a:srgbClr val="1E4336"/>
                </a:solidFill>
                <a:latin typeface="Aptos"/>
              </a:rPr>
              <a:t>EXAMPLE</a:t>
            </a:r>
          </a:p>
        </p:txBody>
      </p:sp>
      <p:sp>
        <p:nvSpPr>
          <p:cNvPr id="22" name="TextBox 21"/>
          <p:cNvSpPr txBox="1"/>
          <p:nvPr/>
        </p:nvSpPr>
        <p:spPr>
          <a:xfrm>
            <a:off x="2057400" y="4956048"/>
            <a:ext cx="8869680" cy="320040"/>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For each day  →  visit each meal  →  read its ingredients  →  update the grocery list</a:t>
            </a:r>
          </a:p>
        </p:txBody>
      </p:sp>
      <p:sp>
        <p:nvSpPr>
          <p:cNvPr id="23" name="TextBox 22"/>
          <p:cNvSpPr txBox="1"/>
          <p:nvPr/>
        </p:nvSpPr>
        <p:spPr>
          <a:xfrm>
            <a:off x="749808" y="5879592"/>
            <a:ext cx="10424160" cy="274320"/>
          </a:xfrm>
          <a:prstGeom prst="rect">
            <a:avLst/>
          </a:prstGeom>
          <a:noFill/>
        </p:spPr>
        <p:txBody>
          <a:bodyPr wrap="square" lIns="0" rIns="0" tIns="0" bIns="0" anchor="t">
            <a:spAutoFit/>
          </a:bodyPr>
          <a:lstStyle/>
          <a:p>
            <a:pPr algn="l">
              <a:spcAft>
                <a:spcPts val="300"/>
              </a:spcAft>
            </a:pPr>
            <a:r>
              <a:rPr sz="1500" b="0" i="0">
                <a:solidFill>
                  <a:srgbClr val="2D3931"/>
                </a:solidFill>
                <a:latin typeface="Aptos"/>
              </a:rPr>
              <a:t>Outcome: predictable navigation and consistent processing.</a:t>
            </a:r>
          </a:p>
        </p:txBody>
      </p:sp>
      <p:sp>
        <p:nvSpPr>
          <p:cNvPr id="24" name="Rectangle 23"/>
          <p:cNvSpPr/>
          <p:nvPr/>
        </p:nvSpPr>
        <p:spPr>
          <a:xfrm>
            <a:off x="10469880" y="347472"/>
            <a:ext cx="960120" cy="3931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tIns="9144" bIns="9144"/>
          <a:lstStyle/>
          <a:p>
            <a:pPr algn="ctr"/>
            <a:r>
              <a:rPr sz="1400" b="1">
                <a:solidFill>
                  <a:srgbClr val="FFFFFF"/>
                </a:solidFill>
                <a:latin typeface="Aptos"/>
              </a:rPr>
              <a:t>CO2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315200" cy="201168"/>
          </a:xfrm>
          <a:prstGeom prst="rect">
            <a:avLst/>
          </a:prstGeom>
          <a:noFill/>
        </p:spPr>
        <p:txBody>
          <a:bodyPr wrap="square" lIns="0" rIns="0" tIns="0" bIns="0" anchor="t">
            <a:spAutoFit/>
          </a:bodyPr>
          <a:lstStyle/>
          <a:p>
            <a:pPr algn="l">
              <a:spcAft>
                <a:spcPts val="300"/>
              </a:spcAft>
            </a:pPr>
            <a:r>
              <a:rPr sz="900" b="1" i="0">
                <a:solidFill>
                  <a:srgbClr val="1E4336"/>
                </a:solidFill>
                <a:latin typeface="Aptos"/>
              </a:rPr>
              <a:t>CO3 · MODULE 3 — DECOMPOSITION AND DATA PROCESSING</a:t>
            </a:r>
          </a:p>
        </p:txBody>
      </p:sp>
      <p:sp>
        <p:nvSpPr>
          <p:cNvPr id="4" name="TextBox 3"/>
          <p:cNvSpPr txBox="1"/>
          <p:nvPr/>
        </p:nvSpPr>
        <p:spPr>
          <a:xfrm>
            <a:off x="566928" y="658368"/>
            <a:ext cx="10972800" cy="530352"/>
          </a:xfrm>
          <a:prstGeom prst="rect">
            <a:avLst/>
          </a:prstGeom>
          <a:noFill/>
        </p:spPr>
        <p:txBody>
          <a:bodyPr wrap="square" lIns="0" rIns="0" tIns="0" bIns="0" anchor="t">
            <a:spAutoFit/>
          </a:bodyPr>
          <a:lstStyle/>
          <a:p>
            <a:pPr algn="l">
              <a:spcAft>
                <a:spcPts val="300"/>
              </a:spcAft>
            </a:pPr>
            <a:r>
              <a:rPr sz="2700" b="1" i="0">
                <a:solidFill>
                  <a:srgbClr val="1E4336"/>
                </a:solidFill>
                <a:latin typeface="Aptos"/>
              </a:rPr>
              <a:t>Methods, Recursion &amp; Arrays</a:t>
            </a:r>
          </a:p>
        </p:txBody>
      </p:sp>
      <p:sp>
        <p:nvSpPr>
          <p:cNvPr id="5" name="Rectangle 4"/>
          <p:cNvSpPr/>
          <p:nvPr/>
        </p:nvSpPr>
        <p:spPr>
          <a:xfrm>
            <a:off x="566928" y="1307592"/>
            <a:ext cx="713232" cy="502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52760" y="6519672"/>
            <a:ext cx="914400" cy="164592"/>
          </a:xfrm>
          <a:prstGeom prst="rect">
            <a:avLst/>
          </a:prstGeom>
          <a:noFill/>
        </p:spPr>
        <p:txBody>
          <a:bodyPr wrap="square" lIns="0" rIns="0" tIns="0" bIns="0" anchor="t">
            <a:spAutoFit/>
          </a:bodyPr>
          <a:lstStyle/>
          <a:p>
            <a:pPr algn="r">
              <a:spcAft>
                <a:spcPts val="300"/>
              </a:spcAft>
            </a:pPr>
            <a:r>
              <a:rPr sz="900" b="0" i="0">
                <a:solidFill>
                  <a:srgbClr val="6A776C"/>
                </a:solidFill>
                <a:latin typeface="Aptos"/>
              </a:rPr>
              <a:t>06  /  12</a:t>
            </a:r>
          </a:p>
        </p:txBody>
      </p:sp>
      <p:sp>
        <p:nvSpPr>
          <p:cNvPr id="7" name="Rounded Rectangle 6"/>
          <p:cNvSpPr/>
          <p:nvPr/>
        </p:nvSpPr>
        <p:spPr>
          <a:xfrm>
            <a:off x="658368" y="1783080"/>
            <a:ext cx="3429000" cy="182880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783080"/>
            <a:ext cx="82296" cy="1828800"/>
          </a:xfrm>
          <a:prstGeom prst="roundRect">
            <a:avLst>
              <a:gd name="adj" fmla="val 12000"/>
            </a:avLst>
          </a:prstGeom>
          <a:solidFill>
            <a:srgbClr val="B2CA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95681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REUSABLE METHODS</a:t>
            </a:r>
          </a:p>
        </p:txBody>
      </p:sp>
      <p:sp>
        <p:nvSpPr>
          <p:cNvPr id="10" name="TextBox 9"/>
          <p:cNvSpPr txBox="1"/>
          <p:nvPr/>
        </p:nvSpPr>
        <p:spPr>
          <a:xfrm>
            <a:off x="877824" y="2350008"/>
            <a:ext cx="3044952" cy="113385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Separate operations into methods such as addMeal(), removeMeal() and generateGroceryList().</a:t>
            </a:r>
          </a:p>
        </p:txBody>
      </p:sp>
      <p:sp>
        <p:nvSpPr>
          <p:cNvPr id="11" name="Rounded Rectangle 10"/>
          <p:cNvSpPr/>
          <p:nvPr/>
        </p:nvSpPr>
        <p:spPr>
          <a:xfrm>
            <a:off x="4370832" y="1783080"/>
            <a:ext cx="3429000" cy="182880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70832" y="1783080"/>
            <a:ext cx="82296" cy="1828800"/>
          </a:xfrm>
          <a:prstGeom prst="roundRect">
            <a:avLst>
              <a:gd name="adj" fmla="val 12000"/>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95681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ARRAY PROCESSING</a:t>
            </a:r>
          </a:p>
        </p:txBody>
      </p:sp>
      <p:sp>
        <p:nvSpPr>
          <p:cNvPr id="14" name="TextBox 13"/>
          <p:cNvSpPr txBox="1"/>
          <p:nvPr/>
        </p:nvSpPr>
        <p:spPr>
          <a:xfrm>
            <a:off x="4590288" y="2350008"/>
            <a:ext cx="3044952" cy="113385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Traverse entries to search, count, sum ingredient quantities and calculate averages.</a:t>
            </a:r>
          </a:p>
        </p:txBody>
      </p:sp>
      <p:sp>
        <p:nvSpPr>
          <p:cNvPr id="15" name="Rounded Rectangle 14"/>
          <p:cNvSpPr/>
          <p:nvPr/>
        </p:nvSpPr>
        <p:spPr>
          <a:xfrm>
            <a:off x="8083296" y="1783080"/>
            <a:ext cx="3429000" cy="182880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83296" y="1783080"/>
            <a:ext cx="82296" cy="1828800"/>
          </a:xfrm>
          <a:prstGeom prst="roundRect">
            <a:avLst>
              <a:gd name="adj" fmla="val 12000"/>
            </a:avLst>
          </a:prstGeom>
          <a:solidFill>
            <a:srgbClr val="E6B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95681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PARAMETERS &amp; RETURNS</a:t>
            </a:r>
          </a:p>
        </p:txBody>
      </p:sp>
      <p:sp>
        <p:nvSpPr>
          <p:cNvPr id="18" name="TextBox 17"/>
          <p:cNvSpPr txBox="1"/>
          <p:nvPr/>
        </p:nvSpPr>
        <p:spPr>
          <a:xfrm>
            <a:off x="8302752" y="2350008"/>
            <a:ext cx="3044952" cy="113385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Pass meal data into methods and return results for display or further processing.</a:t>
            </a:r>
          </a:p>
        </p:txBody>
      </p:sp>
      <p:sp>
        <p:nvSpPr>
          <p:cNvPr id="19" name="TextBox 18"/>
          <p:cNvSpPr txBox="1"/>
          <p:nvPr/>
        </p:nvSpPr>
        <p:spPr>
          <a:xfrm>
            <a:off x="713232" y="4069080"/>
            <a:ext cx="2514600" cy="219456"/>
          </a:xfrm>
          <a:prstGeom prst="rect">
            <a:avLst/>
          </a:prstGeom>
          <a:noFill/>
        </p:spPr>
        <p:txBody>
          <a:bodyPr wrap="square" lIns="0" rIns="0" tIns="0" bIns="0" anchor="t">
            <a:spAutoFit/>
          </a:bodyPr>
          <a:lstStyle/>
          <a:p>
            <a:pPr algn="l">
              <a:spcAft>
                <a:spcPts val="300"/>
              </a:spcAft>
            </a:pPr>
            <a:r>
              <a:rPr sz="1000" b="1" i="0">
                <a:solidFill>
                  <a:srgbClr val="1E4336"/>
                </a:solidFill>
                <a:latin typeface="Aptos"/>
              </a:rPr>
              <a:t>GROCERY-LIST PIPELINE</a:t>
            </a:r>
          </a:p>
        </p:txBody>
      </p:sp>
      <p:sp>
        <p:nvSpPr>
          <p:cNvPr id="20" name="Rounded Rectangle 19"/>
          <p:cNvSpPr/>
          <p:nvPr/>
        </p:nvSpPr>
        <p:spPr>
          <a:xfrm>
            <a:off x="749808" y="4572000"/>
            <a:ext cx="2331720" cy="82296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 y="4736592"/>
            <a:ext cx="320040" cy="228600"/>
          </a:xfrm>
          <a:prstGeom prst="rect">
            <a:avLst/>
          </a:prstGeom>
          <a:noFill/>
        </p:spPr>
        <p:txBody>
          <a:bodyPr wrap="square" lIns="0" rIns="0" tIns="0" bIns="0" anchor="t">
            <a:spAutoFit/>
          </a:bodyPr>
          <a:lstStyle/>
          <a:p>
            <a:pPr algn="l">
              <a:spcAft>
                <a:spcPts val="300"/>
              </a:spcAft>
            </a:pPr>
            <a:r>
              <a:rPr sz="1300" b="1" i="0">
                <a:solidFill>
                  <a:srgbClr val="DE694B"/>
                </a:solidFill>
                <a:latin typeface="Aptos"/>
              </a:rPr>
              <a:t>01</a:t>
            </a:r>
          </a:p>
        </p:txBody>
      </p:sp>
      <p:sp>
        <p:nvSpPr>
          <p:cNvPr id="22" name="TextBox 21"/>
          <p:cNvSpPr txBox="1"/>
          <p:nvPr/>
        </p:nvSpPr>
        <p:spPr>
          <a:xfrm>
            <a:off x="1280160" y="4727448"/>
            <a:ext cx="1645920" cy="256032"/>
          </a:xfrm>
          <a:prstGeom prst="rect">
            <a:avLst/>
          </a:prstGeom>
          <a:noFill/>
        </p:spPr>
        <p:txBody>
          <a:bodyPr wrap="square" lIns="0" rIns="0" tIns="0" bIns="0" anchor="t">
            <a:spAutoFit/>
          </a:bodyPr>
          <a:lstStyle/>
          <a:p>
            <a:pPr algn="l">
              <a:spcAft>
                <a:spcPts val="300"/>
              </a:spcAft>
            </a:pPr>
            <a:r>
              <a:rPr sz="1300" b="1" i="0">
                <a:solidFill>
                  <a:srgbClr val="1E4336"/>
                </a:solidFill>
                <a:latin typeface="Aptos"/>
              </a:rPr>
              <a:t>Read meals</a:t>
            </a:r>
          </a:p>
        </p:txBody>
      </p:sp>
      <p:sp>
        <p:nvSpPr>
          <p:cNvPr id="23" name="TextBox 22"/>
          <p:cNvSpPr txBox="1"/>
          <p:nvPr/>
        </p:nvSpPr>
        <p:spPr>
          <a:xfrm>
            <a:off x="3145536" y="4782312"/>
            <a:ext cx="274320" cy="228600"/>
          </a:xfrm>
          <a:prstGeom prst="rect">
            <a:avLst/>
          </a:prstGeom>
          <a:noFill/>
        </p:spPr>
        <p:txBody>
          <a:bodyPr wrap="square" lIns="0" rIns="0" tIns="0" bIns="0" anchor="t">
            <a:spAutoFit/>
          </a:bodyPr>
          <a:lstStyle/>
          <a:p>
            <a:pPr algn="ctr">
              <a:spcAft>
                <a:spcPts val="300"/>
              </a:spcAft>
            </a:pPr>
            <a:r>
              <a:rPr sz="1700" b="1" i="0">
                <a:solidFill>
                  <a:srgbClr val="DE694B"/>
                </a:solidFill>
                <a:latin typeface="Aptos"/>
              </a:rPr>
              <a:t>→</a:t>
            </a:r>
          </a:p>
        </p:txBody>
      </p:sp>
      <p:sp>
        <p:nvSpPr>
          <p:cNvPr id="24" name="Rounded Rectangle 23"/>
          <p:cNvSpPr/>
          <p:nvPr/>
        </p:nvSpPr>
        <p:spPr>
          <a:xfrm>
            <a:off x="3538727" y="4572000"/>
            <a:ext cx="2331720" cy="82296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75887" y="4736592"/>
            <a:ext cx="320040" cy="228600"/>
          </a:xfrm>
          <a:prstGeom prst="rect">
            <a:avLst/>
          </a:prstGeom>
          <a:noFill/>
        </p:spPr>
        <p:txBody>
          <a:bodyPr wrap="square" lIns="0" rIns="0" tIns="0" bIns="0" anchor="t">
            <a:spAutoFit/>
          </a:bodyPr>
          <a:lstStyle/>
          <a:p>
            <a:pPr algn="l">
              <a:spcAft>
                <a:spcPts val="300"/>
              </a:spcAft>
            </a:pPr>
            <a:r>
              <a:rPr sz="1300" b="1" i="0">
                <a:solidFill>
                  <a:srgbClr val="DE694B"/>
                </a:solidFill>
                <a:latin typeface="Aptos"/>
              </a:rPr>
              <a:t>02</a:t>
            </a:r>
          </a:p>
        </p:txBody>
      </p:sp>
      <p:sp>
        <p:nvSpPr>
          <p:cNvPr id="26" name="TextBox 25"/>
          <p:cNvSpPr txBox="1"/>
          <p:nvPr/>
        </p:nvSpPr>
        <p:spPr>
          <a:xfrm>
            <a:off x="4069079" y="4727448"/>
            <a:ext cx="1645920" cy="256032"/>
          </a:xfrm>
          <a:prstGeom prst="rect">
            <a:avLst/>
          </a:prstGeom>
          <a:noFill/>
        </p:spPr>
        <p:txBody>
          <a:bodyPr wrap="square" lIns="0" rIns="0" tIns="0" bIns="0" anchor="t">
            <a:spAutoFit/>
          </a:bodyPr>
          <a:lstStyle/>
          <a:p>
            <a:pPr algn="l">
              <a:spcAft>
                <a:spcPts val="300"/>
              </a:spcAft>
            </a:pPr>
            <a:r>
              <a:rPr sz="1300" b="1" i="0">
                <a:solidFill>
                  <a:srgbClr val="1E4336"/>
                </a:solidFill>
                <a:latin typeface="Aptos"/>
              </a:rPr>
              <a:t>Visit ingredients</a:t>
            </a:r>
          </a:p>
        </p:txBody>
      </p:sp>
      <p:sp>
        <p:nvSpPr>
          <p:cNvPr id="27" name="TextBox 26"/>
          <p:cNvSpPr txBox="1"/>
          <p:nvPr/>
        </p:nvSpPr>
        <p:spPr>
          <a:xfrm>
            <a:off x="5934456" y="4782312"/>
            <a:ext cx="274320" cy="228600"/>
          </a:xfrm>
          <a:prstGeom prst="rect">
            <a:avLst/>
          </a:prstGeom>
          <a:noFill/>
        </p:spPr>
        <p:txBody>
          <a:bodyPr wrap="square" lIns="0" rIns="0" tIns="0" bIns="0" anchor="t">
            <a:spAutoFit/>
          </a:bodyPr>
          <a:lstStyle/>
          <a:p>
            <a:pPr algn="ctr">
              <a:spcAft>
                <a:spcPts val="300"/>
              </a:spcAft>
            </a:pPr>
            <a:r>
              <a:rPr sz="1700" b="1" i="0">
                <a:solidFill>
                  <a:srgbClr val="DE694B"/>
                </a:solidFill>
                <a:latin typeface="Aptos"/>
              </a:rPr>
              <a:t>→</a:t>
            </a:r>
          </a:p>
        </p:txBody>
      </p:sp>
      <p:sp>
        <p:nvSpPr>
          <p:cNvPr id="28" name="Rounded Rectangle 27"/>
          <p:cNvSpPr/>
          <p:nvPr/>
        </p:nvSpPr>
        <p:spPr>
          <a:xfrm>
            <a:off x="6327648" y="4572000"/>
            <a:ext cx="2331720" cy="82296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4808" y="4736592"/>
            <a:ext cx="320040" cy="228600"/>
          </a:xfrm>
          <a:prstGeom prst="rect">
            <a:avLst/>
          </a:prstGeom>
          <a:noFill/>
        </p:spPr>
        <p:txBody>
          <a:bodyPr wrap="square" lIns="0" rIns="0" tIns="0" bIns="0" anchor="t">
            <a:spAutoFit/>
          </a:bodyPr>
          <a:lstStyle/>
          <a:p>
            <a:pPr algn="l">
              <a:spcAft>
                <a:spcPts val="300"/>
              </a:spcAft>
            </a:pPr>
            <a:r>
              <a:rPr sz="1300" b="1" i="0">
                <a:solidFill>
                  <a:srgbClr val="DE694B"/>
                </a:solidFill>
                <a:latin typeface="Aptos"/>
              </a:rPr>
              <a:t>03</a:t>
            </a:r>
          </a:p>
        </p:txBody>
      </p:sp>
      <p:sp>
        <p:nvSpPr>
          <p:cNvPr id="30" name="TextBox 29"/>
          <p:cNvSpPr txBox="1"/>
          <p:nvPr/>
        </p:nvSpPr>
        <p:spPr>
          <a:xfrm>
            <a:off x="6858000" y="4727448"/>
            <a:ext cx="1645920" cy="256032"/>
          </a:xfrm>
          <a:prstGeom prst="rect">
            <a:avLst/>
          </a:prstGeom>
          <a:noFill/>
        </p:spPr>
        <p:txBody>
          <a:bodyPr wrap="square" lIns="0" rIns="0" tIns="0" bIns="0" anchor="t">
            <a:spAutoFit/>
          </a:bodyPr>
          <a:lstStyle/>
          <a:p>
            <a:pPr algn="l">
              <a:spcAft>
                <a:spcPts val="300"/>
              </a:spcAft>
            </a:pPr>
            <a:r>
              <a:rPr sz="1300" b="1" i="0">
                <a:solidFill>
                  <a:srgbClr val="1E4336"/>
                </a:solidFill>
                <a:latin typeface="Aptos"/>
              </a:rPr>
              <a:t>Combine quantities</a:t>
            </a:r>
          </a:p>
        </p:txBody>
      </p:sp>
      <p:sp>
        <p:nvSpPr>
          <p:cNvPr id="31" name="TextBox 30"/>
          <p:cNvSpPr txBox="1"/>
          <p:nvPr/>
        </p:nvSpPr>
        <p:spPr>
          <a:xfrm>
            <a:off x="8723376" y="4782312"/>
            <a:ext cx="274320" cy="228600"/>
          </a:xfrm>
          <a:prstGeom prst="rect">
            <a:avLst/>
          </a:prstGeom>
          <a:noFill/>
        </p:spPr>
        <p:txBody>
          <a:bodyPr wrap="square" lIns="0" rIns="0" tIns="0" bIns="0" anchor="t">
            <a:spAutoFit/>
          </a:bodyPr>
          <a:lstStyle/>
          <a:p>
            <a:pPr algn="ctr">
              <a:spcAft>
                <a:spcPts val="300"/>
              </a:spcAft>
            </a:pPr>
            <a:r>
              <a:rPr sz="1700" b="1" i="0">
                <a:solidFill>
                  <a:srgbClr val="DE694B"/>
                </a:solidFill>
                <a:latin typeface="Aptos"/>
              </a:rPr>
              <a:t>→</a:t>
            </a:r>
          </a:p>
        </p:txBody>
      </p:sp>
      <p:sp>
        <p:nvSpPr>
          <p:cNvPr id="32" name="Rounded Rectangle 31"/>
          <p:cNvSpPr/>
          <p:nvPr/>
        </p:nvSpPr>
        <p:spPr>
          <a:xfrm>
            <a:off x="9116567" y="4572000"/>
            <a:ext cx="2331720" cy="82296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53728" y="4736592"/>
            <a:ext cx="320040" cy="228600"/>
          </a:xfrm>
          <a:prstGeom prst="rect">
            <a:avLst/>
          </a:prstGeom>
          <a:noFill/>
        </p:spPr>
        <p:txBody>
          <a:bodyPr wrap="square" lIns="0" rIns="0" tIns="0" bIns="0" anchor="t">
            <a:spAutoFit/>
          </a:bodyPr>
          <a:lstStyle/>
          <a:p>
            <a:pPr algn="l">
              <a:spcAft>
                <a:spcPts val="300"/>
              </a:spcAft>
            </a:pPr>
            <a:r>
              <a:rPr sz="1300" b="1" i="0">
                <a:solidFill>
                  <a:srgbClr val="DE694B"/>
                </a:solidFill>
                <a:latin typeface="Aptos"/>
              </a:rPr>
              <a:t>04</a:t>
            </a:r>
          </a:p>
        </p:txBody>
      </p:sp>
      <p:sp>
        <p:nvSpPr>
          <p:cNvPr id="34" name="TextBox 33"/>
          <p:cNvSpPr txBox="1"/>
          <p:nvPr/>
        </p:nvSpPr>
        <p:spPr>
          <a:xfrm>
            <a:off x="9646919" y="4727448"/>
            <a:ext cx="1645920" cy="256032"/>
          </a:xfrm>
          <a:prstGeom prst="rect">
            <a:avLst/>
          </a:prstGeom>
          <a:noFill/>
        </p:spPr>
        <p:txBody>
          <a:bodyPr wrap="square" lIns="0" rIns="0" tIns="0" bIns="0" anchor="t">
            <a:spAutoFit/>
          </a:bodyPr>
          <a:lstStyle/>
          <a:p>
            <a:pPr algn="l">
              <a:spcAft>
                <a:spcPts val="300"/>
              </a:spcAft>
            </a:pPr>
            <a:r>
              <a:rPr sz="1300" b="1" i="0">
                <a:solidFill>
                  <a:srgbClr val="1E4336"/>
                </a:solidFill>
                <a:latin typeface="Aptos"/>
              </a:rPr>
              <a:t>Show list</a:t>
            </a:r>
          </a:p>
        </p:txBody>
      </p:sp>
      <p:sp>
        <p:nvSpPr>
          <p:cNvPr id="35" name="TextBox 34"/>
          <p:cNvSpPr txBox="1"/>
          <p:nvPr/>
        </p:nvSpPr>
        <p:spPr>
          <a:xfrm>
            <a:off x="749808" y="5760720"/>
            <a:ext cx="10424160" cy="320040"/>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Outcome: smaller methods make the project easier to test and maintain.</a:t>
            </a:r>
          </a:p>
        </p:txBody>
      </p:sp>
      <p:sp>
        <p:nvSpPr>
          <p:cNvPr id="36" name="Rectangle 35"/>
          <p:cNvSpPr/>
          <p:nvPr/>
        </p:nvSpPr>
        <p:spPr>
          <a:xfrm>
            <a:off x="10469880" y="347472"/>
            <a:ext cx="960120" cy="3931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tIns="9144" bIns="9144"/>
          <a:lstStyle/>
          <a:p>
            <a:pPr algn="ctr"/>
            <a:r>
              <a:rPr sz="1400" b="1">
                <a:solidFill>
                  <a:srgbClr val="FFFFFF"/>
                </a:solidFill>
                <a:latin typeface="Aptos"/>
              </a:rPr>
              <a:t>CO3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315200" cy="201168"/>
          </a:xfrm>
          <a:prstGeom prst="rect">
            <a:avLst/>
          </a:prstGeom>
          <a:noFill/>
        </p:spPr>
        <p:txBody>
          <a:bodyPr wrap="square" lIns="0" rIns="0" tIns="0" bIns="0" anchor="t">
            <a:spAutoFit/>
          </a:bodyPr>
          <a:lstStyle/>
          <a:p>
            <a:pPr algn="l">
              <a:spcAft>
                <a:spcPts val="300"/>
              </a:spcAft>
            </a:pPr>
            <a:r>
              <a:rPr sz="900" b="1" i="0">
                <a:solidFill>
                  <a:srgbClr val="1E4336"/>
                </a:solidFill>
                <a:latin typeface="Aptos"/>
              </a:rPr>
              <a:t>CO4 · MODULE 4 — MODELLING AND ROBUST CODE</a:t>
            </a:r>
          </a:p>
        </p:txBody>
      </p:sp>
      <p:sp>
        <p:nvSpPr>
          <p:cNvPr id="4" name="TextBox 3"/>
          <p:cNvSpPr txBox="1"/>
          <p:nvPr/>
        </p:nvSpPr>
        <p:spPr>
          <a:xfrm>
            <a:off x="566928" y="658368"/>
            <a:ext cx="10972800" cy="530352"/>
          </a:xfrm>
          <a:prstGeom prst="rect">
            <a:avLst/>
          </a:prstGeom>
          <a:noFill/>
        </p:spPr>
        <p:txBody>
          <a:bodyPr wrap="square" lIns="0" rIns="0" tIns="0" bIns="0" anchor="t">
            <a:spAutoFit/>
          </a:bodyPr>
          <a:lstStyle/>
          <a:p>
            <a:pPr algn="l">
              <a:spcAft>
                <a:spcPts val="300"/>
              </a:spcAft>
            </a:pPr>
            <a:r>
              <a:rPr sz="2700" b="1" i="0">
                <a:solidFill>
                  <a:srgbClr val="1E4336"/>
                </a:solidFill>
                <a:latin typeface="Aptos"/>
              </a:rPr>
              <a:t>Object-Oriented Design &amp; Exceptions</a:t>
            </a:r>
          </a:p>
        </p:txBody>
      </p:sp>
      <p:sp>
        <p:nvSpPr>
          <p:cNvPr id="5" name="Rectangle 4"/>
          <p:cNvSpPr/>
          <p:nvPr/>
        </p:nvSpPr>
        <p:spPr>
          <a:xfrm>
            <a:off x="566928" y="1307592"/>
            <a:ext cx="713232" cy="502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52760" y="6519672"/>
            <a:ext cx="914400" cy="164592"/>
          </a:xfrm>
          <a:prstGeom prst="rect">
            <a:avLst/>
          </a:prstGeom>
          <a:noFill/>
        </p:spPr>
        <p:txBody>
          <a:bodyPr wrap="square" lIns="0" rIns="0" tIns="0" bIns="0" anchor="t">
            <a:spAutoFit/>
          </a:bodyPr>
          <a:lstStyle/>
          <a:p>
            <a:pPr algn="r">
              <a:spcAft>
                <a:spcPts val="300"/>
              </a:spcAft>
            </a:pPr>
            <a:r>
              <a:rPr sz="900" b="0" i="0">
                <a:solidFill>
                  <a:srgbClr val="6A776C"/>
                </a:solidFill>
                <a:latin typeface="Aptos"/>
              </a:rPr>
              <a:t>07  /  12</a:t>
            </a:r>
          </a:p>
        </p:txBody>
      </p:sp>
      <p:sp>
        <p:nvSpPr>
          <p:cNvPr id="7" name="TextBox 6"/>
          <p:cNvSpPr txBox="1"/>
          <p:nvPr/>
        </p:nvSpPr>
        <p:spPr>
          <a:xfrm>
            <a:off x="640080" y="1600200"/>
            <a:ext cx="10789920" cy="365760"/>
          </a:xfrm>
          <a:prstGeom prst="rect">
            <a:avLst/>
          </a:prstGeom>
          <a:noFill/>
        </p:spPr>
        <p:txBody>
          <a:bodyPr wrap="square" lIns="0" rIns="0" tIns="0" bIns="0" anchor="t">
            <a:spAutoFit/>
          </a:bodyPr>
          <a:lstStyle/>
          <a:p>
            <a:pPr algn="l">
              <a:spcAft>
                <a:spcPts val="300"/>
              </a:spcAft>
            </a:pPr>
            <a:r>
              <a:rPr sz="1700" b="0" i="0">
                <a:solidFill>
                  <a:srgbClr val="2D3931"/>
                </a:solidFill>
                <a:latin typeface="Aptos"/>
              </a:rPr>
              <a:t>Model the project using objects with clear data and responsibilities.</a:t>
            </a:r>
          </a:p>
        </p:txBody>
      </p:sp>
      <p:sp>
        <p:nvSpPr>
          <p:cNvPr id="8" name="Rounded Rectangle 7"/>
          <p:cNvSpPr/>
          <p:nvPr/>
        </p:nvSpPr>
        <p:spPr>
          <a:xfrm>
            <a:off x="658368" y="2212848"/>
            <a:ext cx="3429000" cy="196596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2212848"/>
            <a:ext cx="82296" cy="1965960"/>
          </a:xfrm>
          <a:prstGeom prst="roundRect">
            <a:avLst>
              <a:gd name="adj" fmla="val 12000"/>
            </a:avLst>
          </a:prstGeom>
          <a:solidFill>
            <a:srgbClr val="B2CA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386584"/>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MEAL / RECIPE</a:t>
            </a:r>
          </a:p>
        </p:txBody>
      </p:sp>
      <p:sp>
        <p:nvSpPr>
          <p:cNvPr id="11" name="TextBox 10"/>
          <p:cNvSpPr txBox="1"/>
          <p:nvPr/>
        </p:nvSpPr>
        <p:spPr>
          <a:xfrm>
            <a:off x="877824" y="2779776"/>
            <a:ext cx="3044952" cy="1271016"/>
          </a:xfrm>
          <a:prstGeom prst="rect">
            <a:avLst/>
          </a:prstGeom>
          <a:noFill/>
        </p:spPr>
        <p:txBody>
          <a:bodyPr wrap="square" lIns="18288" rIns="18288" tIns="18288" bIns="18288" anchor="t">
            <a:spAutoFit/>
          </a:bodyPr>
          <a:lstStyle/>
          <a:p>
            <a:pPr algn="l">
              <a:spcAft>
                <a:spcPts val="300"/>
              </a:spcAft>
            </a:pPr>
            <a:r>
              <a:rPr sz="1300" b="0" i="0">
                <a:solidFill>
                  <a:srgbClr val="2D3931"/>
                </a:solidFill>
                <a:latin typeface="Aptos"/>
              </a:rPr>
              <a:t>May store a name, meal type and ingredient details, with methods to view or update the recipe.</a:t>
            </a:r>
          </a:p>
        </p:txBody>
      </p:sp>
      <p:sp>
        <p:nvSpPr>
          <p:cNvPr id="12" name="Rounded Rectangle 11"/>
          <p:cNvSpPr/>
          <p:nvPr/>
        </p:nvSpPr>
        <p:spPr>
          <a:xfrm>
            <a:off x="4370832" y="2212848"/>
            <a:ext cx="3429000" cy="196596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0832" y="2212848"/>
            <a:ext cx="82296" cy="1965960"/>
          </a:xfrm>
          <a:prstGeom prst="roundRect">
            <a:avLst>
              <a:gd name="adj" fmla="val 12000"/>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386584"/>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WEEKLY PLAN</a:t>
            </a:r>
          </a:p>
        </p:txBody>
      </p:sp>
      <p:sp>
        <p:nvSpPr>
          <p:cNvPr id="15" name="TextBox 14"/>
          <p:cNvSpPr txBox="1"/>
          <p:nvPr/>
        </p:nvSpPr>
        <p:spPr>
          <a:xfrm>
            <a:off x="4590288" y="2779776"/>
            <a:ext cx="3044952" cy="1271016"/>
          </a:xfrm>
          <a:prstGeom prst="rect">
            <a:avLst/>
          </a:prstGeom>
          <a:noFill/>
        </p:spPr>
        <p:txBody>
          <a:bodyPr wrap="square" lIns="18288" rIns="18288" tIns="18288" bIns="18288" anchor="t">
            <a:spAutoFit/>
          </a:bodyPr>
          <a:lstStyle/>
          <a:p>
            <a:pPr algn="l">
              <a:spcAft>
                <a:spcPts val="300"/>
              </a:spcAft>
            </a:pPr>
            <a:r>
              <a:rPr sz="1300" b="0" i="0">
                <a:solidFill>
                  <a:srgbClr val="2D3931"/>
                </a:solidFill>
                <a:latin typeface="Aptos"/>
              </a:rPr>
              <a:t>Organizes selected meals by day and category; encapsulation protects internal data.</a:t>
            </a:r>
          </a:p>
        </p:txBody>
      </p:sp>
      <p:sp>
        <p:nvSpPr>
          <p:cNvPr id="16" name="Rounded Rectangle 15"/>
          <p:cNvSpPr/>
          <p:nvPr/>
        </p:nvSpPr>
        <p:spPr>
          <a:xfrm>
            <a:off x="8083296" y="2212848"/>
            <a:ext cx="3429000" cy="196596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83296" y="2212848"/>
            <a:ext cx="82296" cy="1965960"/>
          </a:xfrm>
          <a:prstGeom prst="roundRect">
            <a:avLst>
              <a:gd name="adj" fmla="val 12000"/>
            </a:avLst>
          </a:prstGeom>
          <a:solidFill>
            <a:srgbClr val="E6B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2386584"/>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GROCERY ITEM</a:t>
            </a:r>
          </a:p>
        </p:txBody>
      </p:sp>
      <p:sp>
        <p:nvSpPr>
          <p:cNvPr id="19" name="TextBox 18"/>
          <p:cNvSpPr txBox="1"/>
          <p:nvPr/>
        </p:nvSpPr>
        <p:spPr>
          <a:xfrm>
            <a:off x="8302752" y="2779776"/>
            <a:ext cx="3044952" cy="1271016"/>
          </a:xfrm>
          <a:prstGeom prst="rect">
            <a:avLst/>
          </a:prstGeom>
          <a:noFill/>
        </p:spPr>
        <p:txBody>
          <a:bodyPr wrap="square" lIns="18288" rIns="18288" tIns="18288" bIns="18288" anchor="t">
            <a:spAutoFit/>
          </a:bodyPr>
          <a:lstStyle/>
          <a:p>
            <a:pPr algn="l">
              <a:spcAft>
                <a:spcPts val="300"/>
              </a:spcAft>
            </a:pPr>
            <a:r>
              <a:rPr sz="1300" b="0" i="0">
                <a:solidFill>
                  <a:srgbClr val="2D3931"/>
                </a:solidFill>
                <a:latin typeface="Aptos"/>
              </a:rPr>
              <a:t>Represents an ingredient and the combined quantity needed for shopping.</a:t>
            </a:r>
          </a:p>
        </p:txBody>
      </p:sp>
      <p:sp>
        <p:nvSpPr>
          <p:cNvPr id="20" name="Rounded Rectangle 19"/>
          <p:cNvSpPr/>
          <p:nvPr/>
        </p:nvSpPr>
        <p:spPr>
          <a:xfrm>
            <a:off x="731520" y="4617720"/>
            <a:ext cx="10652760" cy="822960"/>
          </a:xfrm>
          <a:prstGeom prst="roundRect">
            <a:avLst>
              <a:gd name="adj" fmla="val 12000"/>
            </a:avLst>
          </a:prstGeom>
          <a:solidFill>
            <a:srgbClr val="E8EF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4901184"/>
            <a:ext cx="1234440" cy="201168"/>
          </a:xfrm>
          <a:prstGeom prst="rect">
            <a:avLst/>
          </a:prstGeom>
          <a:noFill/>
        </p:spPr>
        <p:txBody>
          <a:bodyPr wrap="square" lIns="0" rIns="0" tIns="0" bIns="0" anchor="t">
            <a:spAutoFit/>
          </a:bodyPr>
          <a:lstStyle/>
          <a:p>
            <a:pPr algn="l">
              <a:spcAft>
                <a:spcPts val="300"/>
              </a:spcAft>
            </a:pPr>
            <a:r>
              <a:rPr sz="1000" b="1" i="0">
                <a:solidFill>
                  <a:srgbClr val="1E4336"/>
                </a:solidFill>
                <a:latin typeface="Aptos"/>
              </a:rPr>
              <a:t>DESIGN TOOLS</a:t>
            </a:r>
          </a:p>
        </p:txBody>
      </p:sp>
      <p:sp>
        <p:nvSpPr>
          <p:cNvPr id="22" name="TextBox 21"/>
          <p:cNvSpPr txBox="1"/>
          <p:nvPr/>
        </p:nvSpPr>
        <p:spPr>
          <a:xfrm>
            <a:off x="2331720" y="4837176"/>
            <a:ext cx="8595360" cy="320040"/>
          </a:xfrm>
          <a:prstGeom prst="rect">
            <a:avLst/>
          </a:prstGeom>
          <a:noFill/>
        </p:spPr>
        <p:txBody>
          <a:bodyPr wrap="square" lIns="0" rIns="0" tIns="0" bIns="0" anchor="t">
            <a:spAutoFit/>
          </a:bodyPr>
          <a:lstStyle/>
          <a:p>
            <a:pPr algn="l">
              <a:spcAft>
                <a:spcPts val="300"/>
              </a:spcAft>
            </a:pPr>
            <a:r>
              <a:rPr sz="1400" b="1" i="0">
                <a:solidFill>
                  <a:srgbClr val="1E4336"/>
                </a:solidFill>
                <a:latin typeface="Aptos"/>
              </a:rPr>
              <a:t>Classes • constructors • private fields • getters/setters • inheritance • interfaces</a:t>
            </a:r>
          </a:p>
        </p:txBody>
      </p:sp>
      <p:sp>
        <p:nvSpPr>
          <p:cNvPr id="23" name="TextBox 22"/>
          <p:cNvSpPr txBox="1"/>
          <p:nvPr/>
        </p:nvSpPr>
        <p:spPr>
          <a:xfrm>
            <a:off x="749808" y="5715000"/>
            <a:ext cx="10515600" cy="411480"/>
          </a:xfrm>
          <a:prstGeom prst="rect">
            <a:avLst/>
          </a:prstGeom>
          <a:noFill/>
        </p:spPr>
        <p:txBody>
          <a:bodyPr wrap="square" lIns="0" rIns="0" tIns="0" bIns="0" anchor="t">
            <a:spAutoFit/>
          </a:bodyPr>
          <a:lstStyle/>
          <a:p>
            <a:pPr algn="l">
              <a:spcAft>
                <a:spcPts val="300"/>
              </a:spcAft>
            </a:pPr>
            <a:r>
              <a:rPr sz="1400" b="0" i="0">
                <a:solidFill>
                  <a:srgbClr val="2D3931"/>
                </a:solidFill>
                <a:latin typeface="Aptos"/>
              </a:rPr>
              <a:t>Exception handling with try–catch and try-with-resources can help handle invalid input or missing files.</a:t>
            </a:r>
          </a:p>
        </p:txBody>
      </p:sp>
      <p:sp>
        <p:nvSpPr>
          <p:cNvPr id="24" name="Rectangle 23"/>
          <p:cNvSpPr/>
          <p:nvPr/>
        </p:nvSpPr>
        <p:spPr>
          <a:xfrm>
            <a:off x="10469880" y="347472"/>
            <a:ext cx="960120" cy="3931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tIns="9144" bIns="9144"/>
          <a:lstStyle/>
          <a:p>
            <a:pPr algn="ctr"/>
            <a:r>
              <a:rPr sz="1400" b="1">
                <a:solidFill>
                  <a:srgbClr val="FFFFFF"/>
                </a:solidFill>
                <a:latin typeface="Aptos"/>
              </a:rPr>
              <a:t>CO4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315200" cy="201168"/>
          </a:xfrm>
          <a:prstGeom prst="rect">
            <a:avLst/>
          </a:prstGeom>
          <a:noFill/>
        </p:spPr>
        <p:txBody>
          <a:bodyPr wrap="square" lIns="0" rIns="0" tIns="0" bIns="0" anchor="t">
            <a:spAutoFit/>
          </a:bodyPr>
          <a:lstStyle/>
          <a:p>
            <a:pPr algn="l">
              <a:spcAft>
                <a:spcPts val="300"/>
              </a:spcAft>
            </a:pPr>
            <a:r>
              <a:rPr sz="900" b="1" i="0">
                <a:solidFill>
                  <a:srgbClr val="1E4336"/>
                </a:solidFill>
                <a:latin typeface="Aptos"/>
              </a:rPr>
              <a:t>CO5 · MODULE 5 — TEXT PROCESSING AND PERSISTENCE</a:t>
            </a:r>
          </a:p>
        </p:txBody>
      </p:sp>
      <p:sp>
        <p:nvSpPr>
          <p:cNvPr id="4" name="TextBox 3"/>
          <p:cNvSpPr txBox="1"/>
          <p:nvPr/>
        </p:nvSpPr>
        <p:spPr>
          <a:xfrm>
            <a:off x="566928" y="658368"/>
            <a:ext cx="10972800" cy="530352"/>
          </a:xfrm>
          <a:prstGeom prst="rect">
            <a:avLst/>
          </a:prstGeom>
          <a:noFill/>
        </p:spPr>
        <p:txBody>
          <a:bodyPr wrap="square" lIns="0" rIns="0" tIns="0" bIns="0" anchor="t">
            <a:spAutoFit/>
          </a:bodyPr>
          <a:lstStyle/>
          <a:p>
            <a:pPr algn="l">
              <a:spcAft>
                <a:spcPts val="300"/>
              </a:spcAft>
            </a:pPr>
            <a:r>
              <a:rPr sz="2700" b="1" i="0">
                <a:solidFill>
                  <a:srgbClr val="1E4336"/>
                </a:solidFill>
                <a:latin typeface="Aptos"/>
              </a:rPr>
              <a:t>Strings, Algorithms &amp; File I/O</a:t>
            </a:r>
          </a:p>
        </p:txBody>
      </p:sp>
      <p:sp>
        <p:nvSpPr>
          <p:cNvPr id="5" name="Rectangle 4"/>
          <p:cNvSpPr/>
          <p:nvPr/>
        </p:nvSpPr>
        <p:spPr>
          <a:xfrm>
            <a:off x="566928" y="1307592"/>
            <a:ext cx="713232" cy="502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52760" y="6519672"/>
            <a:ext cx="914400" cy="164592"/>
          </a:xfrm>
          <a:prstGeom prst="rect">
            <a:avLst/>
          </a:prstGeom>
          <a:noFill/>
        </p:spPr>
        <p:txBody>
          <a:bodyPr wrap="square" lIns="0" rIns="0" tIns="0" bIns="0" anchor="t">
            <a:spAutoFit/>
          </a:bodyPr>
          <a:lstStyle/>
          <a:p>
            <a:pPr algn="r">
              <a:spcAft>
                <a:spcPts val="300"/>
              </a:spcAft>
            </a:pPr>
            <a:r>
              <a:rPr sz="900" b="0" i="0">
                <a:solidFill>
                  <a:srgbClr val="6A776C"/>
                </a:solidFill>
                <a:latin typeface="Aptos"/>
              </a:rPr>
              <a:t>08  /  12</a:t>
            </a:r>
          </a:p>
        </p:txBody>
      </p:sp>
      <p:sp>
        <p:nvSpPr>
          <p:cNvPr id="7" name="Rounded Rectangle 6"/>
          <p:cNvSpPr/>
          <p:nvPr/>
        </p:nvSpPr>
        <p:spPr>
          <a:xfrm>
            <a:off x="658368" y="1783080"/>
            <a:ext cx="3429000" cy="192024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783080"/>
            <a:ext cx="82296" cy="1920240"/>
          </a:xfrm>
          <a:prstGeom prst="roundRect">
            <a:avLst>
              <a:gd name="adj" fmla="val 12000"/>
            </a:avLst>
          </a:prstGeom>
          <a:solidFill>
            <a:srgbClr val="B2CA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95681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STRING HANDLING</a:t>
            </a:r>
          </a:p>
        </p:txBody>
      </p:sp>
      <p:sp>
        <p:nvSpPr>
          <p:cNvPr id="10" name="TextBox 9"/>
          <p:cNvSpPr txBox="1"/>
          <p:nvPr/>
        </p:nvSpPr>
        <p:spPr>
          <a:xfrm>
            <a:off x="877824" y="2350008"/>
            <a:ext cx="3044952" cy="122529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Validate meal names, trim extra spaces, search text and compare values with equals().</a:t>
            </a:r>
          </a:p>
        </p:txBody>
      </p:sp>
      <p:sp>
        <p:nvSpPr>
          <p:cNvPr id="11" name="Rounded Rectangle 10"/>
          <p:cNvSpPr/>
          <p:nvPr/>
        </p:nvSpPr>
        <p:spPr>
          <a:xfrm>
            <a:off x="4370832" y="1783080"/>
            <a:ext cx="3429000" cy="192024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70832" y="1783080"/>
            <a:ext cx="82296" cy="1920240"/>
          </a:xfrm>
          <a:prstGeom prst="roundRect">
            <a:avLst>
              <a:gd name="adj" fmla="val 12000"/>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95681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SORT &amp; SEARCH</a:t>
            </a:r>
          </a:p>
        </p:txBody>
      </p:sp>
      <p:sp>
        <p:nvSpPr>
          <p:cNvPr id="14" name="TextBox 13"/>
          <p:cNvSpPr txBox="1"/>
          <p:nvPr/>
        </p:nvSpPr>
        <p:spPr>
          <a:xfrm>
            <a:off x="4590288" y="2350008"/>
            <a:ext cx="3044952" cy="122529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Use Java library tools to sort grocery items and search for a recipe or ingredient.</a:t>
            </a:r>
          </a:p>
        </p:txBody>
      </p:sp>
      <p:sp>
        <p:nvSpPr>
          <p:cNvPr id="15" name="Rounded Rectangle 14"/>
          <p:cNvSpPr/>
          <p:nvPr/>
        </p:nvSpPr>
        <p:spPr>
          <a:xfrm>
            <a:off x="8083296" y="1783080"/>
            <a:ext cx="3429000" cy="192024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83296" y="1783080"/>
            <a:ext cx="82296" cy="1920240"/>
          </a:xfrm>
          <a:prstGeom prst="roundRect">
            <a:avLst>
              <a:gd name="adj" fmla="val 12000"/>
            </a:avLst>
          </a:prstGeom>
          <a:solidFill>
            <a:srgbClr val="E6B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95681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FILE OPERATIONS</a:t>
            </a:r>
          </a:p>
        </p:txBody>
      </p:sp>
      <p:sp>
        <p:nvSpPr>
          <p:cNvPr id="18" name="TextBox 17"/>
          <p:cNvSpPr txBox="1"/>
          <p:nvPr/>
        </p:nvSpPr>
        <p:spPr>
          <a:xfrm>
            <a:off x="8302752" y="2350008"/>
            <a:ext cx="3044952" cy="122529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Read or save meal plans with Path, Files and buffered readers/writers.</a:t>
            </a:r>
          </a:p>
        </p:txBody>
      </p:sp>
      <p:sp>
        <p:nvSpPr>
          <p:cNvPr id="19" name="TextBox 18"/>
          <p:cNvSpPr txBox="1"/>
          <p:nvPr/>
        </p:nvSpPr>
        <p:spPr>
          <a:xfrm>
            <a:off x="713232" y="4114800"/>
            <a:ext cx="1600200" cy="219456"/>
          </a:xfrm>
          <a:prstGeom prst="rect">
            <a:avLst/>
          </a:prstGeom>
          <a:noFill/>
        </p:spPr>
        <p:txBody>
          <a:bodyPr wrap="square" lIns="0" rIns="0" tIns="0" bIns="0" anchor="t">
            <a:spAutoFit/>
          </a:bodyPr>
          <a:lstStyle/>
          <a:p>
            <a:pPr algn="l">
              <a:spcAft>
                <a:spcPts val="300"/>
              </a:spcAft>
            </a:pPr>
            <a:r>
              <a:rPr sz="1000" b="1" i="0">
                <a:solidFill>
                  <a:srgbClr val="1E4336"/>
                </a:solidFill>
                <a:latin typeface="Aptos"/>
              </a:rPr>
              <a:t>WHY IT MATTERS</a:t>
            </a:r>
          </a:p>
        </p:txBody>
      </p:sp>
      <p:sp>
        <p:nvSpPr>
          <p:cNvPr id="20" name="Oval 19"/>
          <p:cNvSpPr/>
          <p:nvPr/>
        </p:nvSpPr>
        <p:spPr>
          <a:xfrm>
            <a:off x="749808" y="4581144"/>
            <a:ext cx="82296" cy="82296"/>
          </a:xfrm>
          <a:prstGeom prst="ellipse">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6" y="4480560"/>
            <a:ext cx="10314432" cy="336042"/>
          </a:xfrm>
          <a:prstGeom prst="rect">
            <a:avLst/>
          </a:prstGeom>
          <a:noFill/>
        </p:spPr>
        <p:txBody>
          <a:bodyPr wrap="square" lIns="9144" rIns="9144" tIns="9144" bIns="9144" anchor="t">
            <a:spAutoFit/>
          </a:bodyPr>
          <a:lstStyle/>
          <a:p>
            <a:pPr algn="l">
              <a:spcAft>
                <a:spcPts val="300"/>
              </a:spcAft>
            </a:pPr>
            <a:r>
              <a:rPr sz="1400" b="0" i="0">
                <a:solidFill>
                  <a:srgbClr val="2D3931"/>
                </a:solidFill>
                <a:latin typeface="Aptos"/>
              </a:rPr>
              <a:t>String methods help process ingredient names and menu choices.</a:t>
            </a:r>
          </a:p>
        </p:txBody>
      </p:sp>
      <p:sp>
        <p:nvSpPr>
          <p:cNvPr id="22" name="Oval 21"/>
          <p:cNvSpPr/>
          <p:nvPr/>
        </p:nvSpPr>
        <p:spPr>
          <a:xfrm>
            <a:off x="749808" y="4935474"/>
            <a:ext cx="82296" cy="82296"/>
          </a:xfrm>
          <a:prstGeom prst="ellipse">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 y="4834890"/>
            <a:ext cx="10314432" cy="336042"/>
          </a:xfrm>
          <a:prstGeom prst="rect">
            <a:avLst/>
          </a:prstGeom>
          <a:noFill/>
        </p:spPr>
        <p:txBody>
          <a:bodyPr wrap="square" lIns="9144" rIns="9144" tIns="9144" bIns="9144" anchor="t">
            <a:spAutoFit/>
          </a:bodyPr>
          <a:lstStyle/>
          <a:p>
            <a:pPr algn="l">
              <a:spcAft>
                <a:spcPts val="300"/>
              </a:spcAft>
            </a:pPr>
            <a:r>
              <a:rPr sz="1400" b="0" i="0">
                <a:solidFill>
                  <a:srgbClr val="2D3931"/>
                </a:solidFill>
                <a:latin typeface="Aptos"/>
              </a:rPr>
              <a:t>Sorting keeps grocery items easier to scan; searching helps locate entries.</a:t>
            </a:r>
          </a:p>
        </p:txBody>
      </p:sp>
      <p:sp>
        <p:nvSpPr>
          <p:cNvPr id="24" name="Oval 23"/>
          <p:cNvSpPr/>
          <p:nvPr/>
        </p:nvSpPr>
        <p:spPr>
          <a:xfrm>
            <a:off x="749808" y="5289804"/>
            <a:ext cx="82296" cy="82296"/>
          </a:xfrm>
          <a:prstGeom prst="ellipse">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 y="5189220"/>
            <a:ext cx="10314432" cy="336042"/>
          </a:xfrm>
          <a:prstGeom prst="rect">
            <a:avLst/>
          </a:prstGeom>
          <a:noFill/>
        </p:spPr>
        <p:txBody>
          <a:bodyPr wrap="square" lIns="9144" rIns="9144" tIns="9144" bIns="9144" anchor="t">
            <a:spAutoFit/>
          </a:bodyPr>
          <a:lstStyle/>
          <a:p>
            <a:pPr algn="l">
              <a:spcAft>
                <a:spcPts val="300"/>
              </a:spcAft>
            </a:pPr>
            <a:r>
              <a:rPr sz="1400" b="0" i="0">
                <a:solidFill>
                  <a:srgbClr val="2D3931"/>
                </a:solidFill>
                <a:latin typeface="Aptos"/>
              </a:rPr>
              <a:t>File I/O can preserve meal plans between program sessions.</a:t>
            </a:r>
          </a:p>
        </p:txBody>
      </p:sp>
      <p:sp>
        <p:nvSpPr>
          <p:cNvPr id="26" name="Oval 25"/>
          <p:cNvSpPr/>
          <p:nvPr/>
        </p:nvSpPr>
        <p:spPr>
          <a:xfrm>
            <a:off x="749808" y="5644134"/>
            <a:ext cx="82296" cy="82296"/>
          </a:xfrm>
          <a:prstGeom prst="ellipse">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0976" y="5543550"/>
            <a:ext cx="10314432" cy="336042"/>
          </a:xfrm>
          <a:prstGeom prst="rect">
            <a:avLst/>
          </a:prstGeom>
          <a:noFill/>
        </p:spPr>
        <p:txBody>
          <a:bodyPr wrap="square" lIns="9144" rIns="9144" tIns="9144" bIns="9144" anchor="t">
            <a:spAutoFit/>
          </a:bodyPr>
          <a:lstStyle/>
          <a:p>
            <a:pPr algn="l">
              <a:spcAft>
                <a:spcPts val="300"/>
              </a:spcAft>
            </a:pPr>
            <a:r>
              <a:rPr sz="1400" b="0" i="0">
                <a:solidFill>
                  <a:srgbClr val="2D3931"/>
                </a:solidFill>
                <a:latin typeface="Aptos"/>
              </a:rPr>
              <a:t>Try-with-resources supports safe closing of file resources.</a:t>
            </a:r>
          </a:p>
        </p:txBody>
      </p:sp>
      <p:sp>
        <p:nvSpPr>
          <p:cNvPr id="28" name="TextBox 27"/>
          <p:cNvSpPr txBox="1"/>
          <p:nvPr/>
        </p:nvSpPr>
        <p:spPr>
          <a:xfrm>
            <a:off x="749808" y="6053328"/>
            <a:ext cx="10424160" cy="256032"/>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Outcome: more organized data, better search and reusable saved plans.</a:t>
            </a:r>
          </a:p>
        </p:txBody>
      </p:sp>
      <p:sp>
        <p:nvSpPr>
          <p:cNvPr id="29" name="Rectangle 28"/>
          <p:cNvSpPr/>
          <p:nvPr/>
        </p:nvSpPr>
        <p:spPr>
          <a:xfrm>
            <a:off x="10469880" y="347472"/>
            <a:ext cx="960120" cy="3931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tIns="9144" bIns="9144"/>
          <a:lstStyle/>
          <a:p>
            <a:pPr algn="ctr"/>
            <a:r>
              <a:rPr sz="1400" b="1">
                <a:solidFill>
                  <a:srgbClr val="FFFFFF"/>
                </a:solidFill>
                <a:latin typeface="Aptos"/>
              </a:rPr>
              <a:t>CO5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315200" cy="201168"/>
          </a:xfrm>
          <a:prstGeom prst="rect">
            <a:avLst/>
          </a:prstGeom>
          <a:noFill/>
        </p:spPr>
        <p:txBody>
          <a:bodyPr wrap="square" lIns="0" rIns="0" tIns="0" bIns="0" anchor="t">
            <a:spAutoFit/>
          </a:bodyPr>
          <a:lstStyle/>
          <a:p>
            <a:pPr algn="l">
              <a:spcAft>
                <a:spcPts val="300"/>
              </a:spcAft>
            </a:pPr>
            <a:r>
              <a:rPr sz="900" b="1" i="0">
                <a:solidFill>
                  <a:srgbClr val="1E4336"/>
                </a:solidFill>
                <a:latin typeface="Aptos"/>
              </a:rPr>
              <a:t>CO6 · MODULE 6 — FUNCTIONAL PROGRAMMING IN PRACTICE</a:t>
            </a:r>
          </a:p>
        </p:txBody>
      </p:sp>
      <p:sp>
        <p:nvSpPr>
          <p:cNvPr id="4" name="TextBox 3"/>
          <p:cNvSpPr txBox="1"/>
          <p:nvPr/>
        </p:nvSpPr>
        <p:spPr>
          <a:xfrm>
            <a:off x="566928" y="658368"/>
            <a:ext cx="10972800" cy="530352"/>
          </a:xfrm>
          <a:prstGeom prst="rect">
            <a:avLst/>
          </a:prstGeom>
          <a:noFill/>
        </p:spPr>
        <p:txBody>
          <a:bodyPr wrap="square" lIns="0" rIns="0" tIns="0" bIns="0" anchor="t">
            <a:spAutoFit/>
          </a:bodyPr>
          <a:lstStyle/>
          <a:p>
            <a:pPr algn="l">
              <a:spcAft>
                <a:spcPts val="300"/>
              </a:spcAft>
            </a:pPr>
            <a:r>
              <a:rPr sz="2700" b="1" i="0">
                <a:solidFill>
                  <a:srgbClr val="1E4336"/>
                </a:solidFill>
                <a:latin typeface="Aptos"/>
              </a:rPr>
              <a:t>Collections &amp; Streams</a:t>
            </a:r>
          </a:p>
        </p:txBody>
      </p:sp>
      <p:sp>
        <p:nvSpPr>
          <p:cNvPr id="5" name="Rectangle 4"/>
          <p:cNvSpPr/>
          <p:nvPr/>
        </p:nvSpPr>
        <p:spPr>
          <a:xfrm>
            <a:off x="566928" y="1307592"/>
            <a:ext cx="713232" cy="502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52760" y="6519672"/>
            <a:ext cx="914400" cy="164592"/>
          </a:xfrm>
          <a:prstGeom prst="rect">
            <a:avLst/>
          </a:prstGeom>
          <a:noFill/>
        </p:spPr>
        <p:txBody>
          <a:bodyPr wrap="square" lIns="0" rIns="0" tIns="0" bIns="0" anchor="t">
            <a:spAutoFit/>
          </a:bodyPr>
          <a:lstStyle/>
          <a:p>
            <a:pPr algn="r">
              <a:spcAft>
                <a:spcPts val="300"/>
              </a:spcAft>
            </a:pPr>
            <a:r>
              <a:rPr sz="900" b="0" i="0">
                <a:solidFill>
                  <a:srgbClr val="6A776C"/>
                </a:solidFill>
                <a:latin typeface="Aptos"/>
              </a:rPr>
              <a:t>09  /  12</a:t>
            </a:r>
          </a:p>
        </p:txBody>
      </p:sp>
      <p:sp>
        <p:nvSpPr>
          <p:cNvPr id="7" name="Rounded Rectangle 6"/>
          <p:cNvSpPr/>
          <p:nvPr/>
        </p:nvSpPr>
        <p:spPr>
          <a:xfrm>
            <a:off x="658368" y="1783080"/>
            <a:ext cx="3429000" cy="182880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783080"/>
            <a:ext cx="82296" cy="1828800"/>
          </a:xfrm>
          <a:prstGeom prst="roundRect">
            <a:avLst>
              <a:gd name="adj" fmla="val 12000"/>
            </a:avLst>
          </a:prstGeom>
          <a:solidFill>
            <a:srgbClr val="B2CA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95681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COLLECTIONS</a:t>
            </a:r>
          </a:p>
        </p:txBody>
      </p:sp>
      <p:sp>
        <p:nvSpPr>
          <p:cNvPr id="10" name="TextBox 9"/>
          <p:cNvSpPr txBox="1"/>
          <p:nvPr/>
        </p:nvSpPr>
        <p:spPr>
          <a:xfrm>
            <a:off x="877824" y="2350008"/>
            <a:ext cx="3044952" cy="113385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ArrayList stores entries; HashMap can map ingredients to quantities; Set can remove duplicates.</a:t>
            </a:r>
          </a:p>
        </p:txBody>
      </p:sp>
      <p:sp>
        <p:nvSpPr>
          <p:cNvPr id="11" name="Rounded Rectangle 10"/>
          <p:cNvSpPr/>
          <p:nvPr/>
        </p:nvSpPr>
        <p:spPr>
          <a:xfrm>
            <a:off x="4370832" y="1783080"/>
            <a:ext cx="3429000" cy="182880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70832" y="1783080"/>
            <a:ext cx="82296" cy="1828800"/>
          </a:xfrm>
          <a:prstGeom prst="roundRect">
            <a:avLst>
              <a:gd name="adj" fmla="val 12000"/>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95681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FUNCTIONAL TOOLS</a:t>
            </a:r>
          </a:p>
        </p:txBody>
      </p:sp>
      <p:sp>
        <p:nvSpPr>
          <p:cNvPr id="14" name="TextBox 13"/>
          <p:cNvSpPr txBox="1"/>
          <p:nvPr/>
        </p:nvSpPr>
        <p:spPr>
          <a:xfrm>
            <a:off x="4590288" y="2350008"/>
            <a:ext cx="3044952" cy="113385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Lambdas and interfaces such as Predicate and Function make processing rules reusable.</a:t>
            </a:r>
          </a:p>
        </p:txBody>
      </p:sp>
      <p:sp>
        <p:nvSpPr>
          <p:cNvPr id="15" name="Rounded Rectangle 14"/>
          <p:cNvSpPr/>
          <p:nvPr/>
        </p:nvSpPr>
        <p:spPr>
          <a:xfrm>
            <a:off x="8083296" y="1783080"/>
            <a:ext cx="3429000" cy="1828800"/>
          </a:xfrm>
          <a:prstGeom prst="roundRect">
            <a:avLst>
              <a:gd name="adj" fmla="val 12000"/>
            </a:avLst>
          </a:prstGeom>
          <a:solidFill>
            <a:srgbClr val="FFF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83296" y="1783080"/>
            <a:ext cx="82296" cy="1828800"/>
          </a:xfrm>
          <a:prstGeom prst="roundRect">
            <a:avLst>
              <a:gd name="adj" fmla="val 12000"/>
            </a:avLst>
          </a:prstGeom>
          <a:solidFill>
            <a:srgbClr val="E6B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956816"/>
            <a:ext cx="3044952" cy="292608"/>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STREAM PIPELINES</a:t>
            </a:r>
          </a:p>
        </p:txBody>
      </p:sp>
      <p:sp>
        <p:nvSpPr>
          <p:cNvPr id="18" name="TextBox 17"/>
          <p:cNvSpPr txBox="1"/>
          <p:nvPr/>
        </p:nvSpPr>
        <p:spPr>
          <a:xfrm>
            <a:off x="8302752" y="2350008"/>
            <a:ext cx="3044952" cy="1133856"/>
          </a:xfrm>
          <a:prstGeom prst="rect">
            <a:avLst/>
          </a:prstGeom>
          <a:noFill/>
        </p:spPr>
        <p:txBody>
          <a:bodyPr wrap="square" lIns="18288" rIns="18288" tIns="18288" bIns="18288" anchor="t">
            <a:spAutoFit/>
          </a:bodyPr>
          <a:lstStyle/>
          <a:p>
            <a:pPr algn="l">
              <a:spcAft>
                <a:spcPts val="300"/>
              </a:spcAft>
            </a:pPr>
            <a:r>
              <a:rPr sz="1400" b="0" i="0">
                <a:solidFill>
                  <a:srgbClr val="2D3931"/>
                </a:solidFill>
                <a:latin typeface="Aptos"/>
              </a:rPr>
              <a:t>filter, map, sorted and distinct can prepare data for collect, count or summary reports.</a:t>
            </a:r>
          </a:p>
        </p:txBody>
      </p:sp>
      <p:sp>
        <p:nvSpPr>
          <p:cNvPr id="19" name="TextBox 18"/>
          <p:cNvSpPr txBox="1"/>
          <p:nvPr/>
        </p:nvSpPr>
        <p:spPr>
          <a:xfrm>
            <a:off x="713232" y="4069080"/>
            <a:ext cx="3017520" cy="219456"/>
          </a:xfrm>
          <a:prstGeom prst="rect">
            <a:avLst/>
          </a:prstGeom>
          <a:noFill/>
        </p:spPr>
        <p:txBody>
          <a:bodyPr wrap="square" lIns="0" rIns="0" tIns="0" bIns="0" anchor="t">
            <a:spAutoFit/>
          </a:bodyPr>
          <a:lstStyle/>
          <a:p>
            <a:pPr algn="l">
              <a:spcAft>
                <a:spcPts val="300"/>
              </a:spcAft>
            </a:pPr>
            <a:r>
              <a:rPr sz="1000" b="1" i="0">
                <a:solidFill>
                  <a:srgbClr val="1E4336"/>
                </a:solidFill>
                <a:latin typeface="Aptos"/>
              </a:rPr>
              <a:t>FROM MEALS TO SHOPPING REPORT</a:t>
            </a:r>
          </a:p>
        </p:txBody>
      </p:sp>
      <p:sp>
        <p:nvSpPr>
          <p:cNvPr id="20" name="Rounded Rectangle 19"/>
          <p:cNvSpPr/>
          <p:nvPr/>
        </p:nvSpPr>
        <p:spPr>
          <a:xfrm>
            <a:off x="749808" y="4572000"/>
            <a:ext cx="2331720" cy="713232"/>
          </a:xfrm>
          <a:prstGeom prst="roundRect">
            <a:avLst>
              <a:gd name="adj" fmla="val 12000"/>
            </a:avLst>
          </a:prstGeom>
          <a:solidFill>
            <a:srgbClr val="1E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4782312"/>
            <a:ext cx="2185416" cy="228600"/>
          </a:xfrm>
          <a:prstGeom prst="rect">
            <a:avLst/>
          </a:prstGeom>
          <a:noFill/>
        </p:spPr>
        <p:txBody>
          <a:bodyPr wrap="square" lIns="0" rIns="0" tIns="0" bIns="0" anchor="t">
            <a:spAutoFit/>
          </a:bodyPr>
          <a:lstStyle/>
          <a:p>
            <a:pPr algn="ctr">
              <a:spcAft>
                <a:spcPts val="300"/>
              </a:spcAft>
            </a:pPr>
            <a:r>
              <a:rPr sz="1100" b="1" i="0">
                <a:solidFill>
                  <a:srgbClr val="FFFFFF"/>
                </a:solidFill>
                <a:latin typeface="Aptos"/>
              </a:rPr>
              <a:t>MEAL PLAN</a:t>
            </a:r>
          </a:p>
        </p:txBody>
      </p:sp>
      <p:sp>
        <p:nvSpPr>
          <p:cNvPr id="22" name="TextBox 21"/>
          <p:cNvSpPr txBox="1"/>
          <p:nvPr/>
        </p:nvSpPr>
        <p:spPr>
          <a:xfrm>
            <a:off x="3145536" y="4773168"/>
            <a:ext cx="274320" cy="228600"/>
          </a:xfrm>
          <a:prstGeom prst="rect">
            <a:avLst/>
          </a:prstGeom>
          <a:noFill/>
        </p:spPr>
        <p:txBody>
          <a:bodyPr wrap="square" lIns="0" rIns="0" tIns="0" bIns="0" anchor="t">
            <a:spAutoFit/>
          </a:bodyPr>
          <a:lstStyle/>
          <a:p>
            <a:pPr algn="ctr">
              <a:spcAft>
                <a:spcPts val="300"/>
              </a:spcAft>
            </a:pPr>
            <a:r>
              <a:rPr sz="1700" b="1" i="0">
                <a:solidFill>
                  <a:srgbClr val="DE694B"/>
                </a:solidFill>
                <a:latin typeface="Aptos"/>
              </a:rPr>
              <a:t>→</a:t>
            </a:r>
          </a:p>
        </p:txBody>
      </p:sp>
      <p:sp>
        <p:nvSpPr>
          <p:cNvPr id="23" name="Rounded Rectangle 22"/>
          <p:cNvSpPr/>
          <p:nvPr/>
        </p:nvSpPr>
        <p:spPr>
          <a:xfrm>
            <a:off x="3538727" y="4572000"/>
            <a:ext cx="2331720" cy="713232"/>
          </a:xfrm>
          <a:prstGeom prst="roundRect">
            <a:avLst>
              <a:gd name="adj" fmla="val 12000"/>
            </a:avLst>
          </a:prstGeom>
          <a:solidFill>
            <a:srgbClr val="568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11879" y="4782312"/>
            <a:ext cx="2185416" cy="228600"/>
          </a:xfrm>
          <a:prstGeom prst="rect">
            <a:avLst/>
          </a:prstGeom>
          <a:noFill/>
        </p:spPr>
        <p:txBody>
          <a:bodyPr wrap="square" lIns="0" rIns="0" tIns="0" bIns="0" anchor="t">
            <a:spAutoFit/>
          </a:bodyPr>
          <a:lstStyle/>
          <a:p>
            <a:pPr algn="ctr">
              <a:spcAft>
                <a:spcPts val="300"/>
              </a:spcAft>
            </a:pPr>
            <a:r>
              <a:rPr sz="1100" b="1" i="0">
                <a:solidFill>
                  <a:srgbClr val="FFFFFF"/>
                </a:solidFill>
                <a:latin typeface="Aptos"/>
              </a:rPr>
              <a:t>INGREDIENTS</a:t>
            </a:r>
          </a:p>
        </p:txBody>
      </p:sp>
      <p:sp>
        <p:nvSpPr>
          <p:cNvPr id="25" name="TextBox 24"/>
          <p:cNvSpPr txBox="1"/>
          <p:nvPr/>
        </p:nvSpPr>
        <p:spPr>
          <a:xfrm>
            <a:off x="5934456" y="4773168"/>
            <a:ext cx="274320" cy="228600"/>
          </a:xfrm>
          <a:prstGeom prst="rect">
            <a:avLst/>
          </a:prstGeom>
          <a:noFill/>
        </p:spPr>
        <p:txBody>
          <a:bodyPr wrap="square" lIns="0" rIns="0" tIns="0" bIns="0" anchor="t">
            <a:spAutoFit/>
          </a:bodyPr>
          <a:lstStyle/>
          <a:p>
            <a:pPr algn="ctr">
              <a:spcAft>
                <a:spcPts val="300"/>
              </a:spcAft>
            </a:pPr>
            <a:r>
              <a:rPr sz="1700" b="1" i="0">
                <a:solidFill>
                  <a:srgbClr val="DE694B"/>
                </a:solidFill>
                <a:latin typeface="Aptos"/>
              </a:rPr>
              <a:t>→</a:t>
            </a:r>
          </a:p>
        </p:txBody>
      </p:sp>
      <p:sp>
        <p:nvSpPr>
          <p:cNvPr id="26" name="Rounded Rectangle 25"/>
          <p:cNvSpPr/>
          <p:nvPr/>
        </p:nvSpPr>
        <p:spPr>
          <a:xfrm>
            <a:off x="6327648" y="4572000"/>
            <a:ext cx="2331720" cy="713232"/>
          </a:xfrm>
          <a:prstGeom prst="roundRect">
            <a:avLst>
              <a:gd name="adj" fmla="val 12000"/>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782312"/>
            <a:ext cx="2185416" cy="228600"/>
          </a:xfrm>
          <a:prstGeom prst="rect">
            <a:avLst/>
          </a:prstGeom>
          <a:noFill/>
        </p:spPr>
        <p:txBody>
          <a:bodyPr wrap="square" lIns="0" rIns="0" tIns="0" bIns="0" anchor="t">
            <a:spAutoFit/>
          </a:bodyPr>
          <a:lstStyle/>
          <a:p>
            <a:pPr algn="ctr">
              <a:spcAft>
                <a:spcPts val="300"/>
              </a:spcAft>
            </a:pPr>
            <a:r>
              <a:rPr sz="1100" b="1" i="0">
                <a:solidFill>
                  <a:srgbClr val="FFFFFF"/>
                </a:solidFill>
                <a:latin typeface="Aptos"/>
              </a:rPr>
              <a:t>GROUP &amp; COMBINE</a:t>
            </a:r>
          </a:p>
        </p:txBody>
      </p:sp>
      <p:sp>
        <p:nvSpPr>
          <p:cNvPr id="28" name="TextBox 27"/>
          <p:cNvSpPr txBox="1"/>
          <p:nvPr/>
        </p:nvSpPr>
        <p:spPr>
          <a:xfrm>
            <a:off x="8723376" y="4773168"/>
            <a:ext cx="274320" cy="228600"/>
          </a:xfrm>
          <a:prstGeom prst="rect">
            <a:avLst/>
          </a:prstGeom>
          <a:noFill/>
        </p:spPr>
        <p:txBody>
          <a:bodyPr wrap="square" lIns="0" rIns="0" tIns="0" bIns="0" anchor="t">
            <a:spAutoFit/>
          </a:bodyPr>
          <a:lstStyle/>
          <a:p>
            <a:pPr algn="ctr">
              <a:spcAft>
                <a:spcPts val="300"/>
              </a:spcAft>
            </a:pPr>
            <a:r>
              <a:rPr sz="1700" b="1" i="0">
                <a:solidFill>
                  <a:srgbClr val="DE694B"/>
                </a:solidFill>
                <a:latin typeface="Aptos"/>
              </a:rPr>
              <a:t>→</a:t>
            </a:r>
          </a:p>
        </p:txBody>
      </p:sp>
      <p:sp>
        <p:nvSpPr>
          <p:cNvPr id="29" name="Rounded Rectangle 28"/>
          <p:cNvSpPr/>
          <p:nvPr/>
        </p:nvSpPr>
        <p:spPr>
          <a:xfrm>
            <a:off x="9116567" y="4572000"/>
            <a:ext cx="2331720" cy="713232"/>
          </a:xfrm>
          <a:prstGeom prst="roundRect">
            <a:avLst>
              <a:gd name="adj" fmla="val 12000"/>
            </a:avLst>
          </a:prstGeom>
          <a:solidFill>
            <a:srgbClr val="789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9719" y="4782312"/>
            <a:ext cx="2185416" cy="228600"/>
          </a:xfrm>
          <a:prstGeom prst="rect">
            <a:avLst/>
          </a:prstGeom>
          <a:noFill/>
        </p:spPr>
        <p:txBody>
          <a:bodyPr wrap="square" lIns="0" rIns="0" tIns="0" bIns="0" anchor="t">
            <a:spAutoFit/>
          </a:bodyPr>
          <a:lstStyle/>
          <a:p>
            <a:pPr algn="ctr">
              <a:spcAft>
                <a:spcPts val="300"/>
              </a:spcAft>
            </a:pPr>
            <a:r>
              <a:rPr sz="1100" b="1" i="0">
                <a:solidFill>
                  <a:srgbClr val="FFFFFF"/>
                </a:solidFill>
                <a:latin typeface="Aptos"/>
              </a:rPr>
              <a:t>GROCERY LIST</a:t>
            </a:r>
          </a:p>
        </p:txBody>
      </p:sp>
      <p:sp>
        <p:nvSpPr>
          <p:cNvPr id="31" name="TextBox 30"/>
          <p:cNvSpPr txBox="1"/>
          <p:nvPr/>
        </p:nvSpPr>
        <p:spPr>
          <a:xfrm>
            <a:off x="749808" y="5687568"/>
            <a:ext cx="10515600" cy="347472"/>
          </a:xfrm>
          <a:prstGeom prst="rect">
            <a:avLst/>
          </a:prstGeom>
          <a:noFill/>
        </p:spPr>
        <p:txBody>
          <a:bodyPr wrap="square" lIns="0" rIns="0" tIns="0" bIns="0" anchor="t">
            <a:spAutoFit/>
          </a:bodyPr>
          <a:lstStyle/>
          <a:p>
            <a:pPr algn="l">
              <a:spcAft>
                <a:spcPts val="300"/>
              </a:spcAft>
            </a:pPr>
            <a:r>
              <a:rPr sz="1500" b="1" i="0">
                <a:solidFill>
                  <a:srgbClr val="1E4336"/>
                </a:solidFill>
                <a:latin typeface="Aptos"/>
              </a:rPr>
              <a:t>Outcome: collections and streams support concise aggregation and clearer summaries.</a:t>
            </a:r>
          </a:p>
        </p:txBody>
      </p:sp>
      <p:sp>
        <p:nvSpPr>
          <p:cNvPr id="32" name="Rectangle 31"/>
          <p:cNvSpPr/>
          <p:nvPr/>
        </p:nvSpPr>
        <p:spPr>
          <a:xfrm>
            <a:off x="10469880" y="347472"/>
            <a:ext cx="960120" cy="3931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tIns="9144" bIns="9144"/>
          <a:lstStyle/>
          <a:p>
            <a:pPr algn="ctr"/>
            <a:r>
              <a:rPr sz="1400" b="1">
                <a:solidFill>
                  <a:srgbClr val="FFFFFF"/>
                </a:solidFill>
                <a:latin typeface="Aptos"/>
              </a:rPr>
              <a:t>CO6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3028"/>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458200" y="0"/>
            <a:ext cx="3733495" cy="6858000"/>
          </a:xfrm>
          <a:prstGeom prst="rect">
            <a:avLst/>
          </a:prstGeom>
          <a:solidFill>
            <a:srgbClr val="1E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21792"/>
            <a:ext cx="2286000" cy="228600"/>
          </a:xfrm>
          <a:prstGeom prst="rect">
            <a:avLst/>
          </a:prstGeom>
          <a:noFill/>
        </p:spPr>
        <p:txBody>
          <a:bodyPr wrap="square" lIns="0" rIns="0" tIns="0" bIns="0" anchor="t">
            <a:spAutoFit/>
          </a:bodyPr>
          <a:lstStyle/>
          <a:p>
            <a:pPr algn="l">
              <a:spcAft>
                <a:spcPts val="300"/>
              </a:spcAft>
            </a:pPr>
            <a:r>
              <a:rPr sz="1000" b="1" i="0">
                <a:solidFill>
                  <a:srgbClr val="DBE891"/>
                </a:solidFill>
                <a:latin typeface="Aptos"/>
              </a:rPr>
              <a:t>CONCLUSION</a:t>
            </a:r>
          </a:p>
        </p:txBody>
      </p:sp>
      <p:sp>
        <p:nvSpPr>
          <p:cNvPr id="5" name="TextBox 4"/>
          <p:cNvSpPr txBox="1"/>
          <p:nvPr/>
        </p:nvSpPr>
        <p:spPr>
          <a:xfrm>
            <a:off x="685800" y="1097280"/>
            <a:ext cx="7498079" cy="1143000"/>
          </a:xfrm>
          <a:prstGeom prst="rect">
            <a:avLst/>
          </a:prstGeom>
          <a:noFill/>
        </p:spPr>
        <p:txBody>
          <a:bodyPr wrap="square" lIns="0" rIns="0" tIns="0" bIns="0" anchor="t">
            <a:spAutoFit/>
          </a:bodyPr>
          <a:lstStyle/>
          <a:p>
            <a:pPr algn="l">
              <a:spcAft>
                <a:spcPts val="300"/>
              </a:spcAft>
            </a:pPr>
            <a:r>
              <a:rPr sz="3100" b="1" i="0">
                <a:solidFill>
                  <a:srgbClr val="FFFFFF"/>
                </a:solidFill>
                <a:latin typeface="Aptos"/>
              </a:rPr>
              <a:t>A practical Java solution</a:t>
            </a:r>
          </a:p>
          <a:p>
            <a:pPr algn="l">
              <a:spcAft>
                <a:spcPts val="300"/>
              </a:spcAft>
            </a:pPr>
            <a:r>
              <a:rPr sz="3100" b="1" i="0">
                <a:solidFill>
                  <a:srgbClr val="FFFFFF"/>
                </a:solidFill>
                <a:latin typeface="Aptos"/>
              </a:rPr>
              <a:t>for everyday planning</a:t>
            </a:r>
          </a:p>
        </p:txBody>
      </p:sp>
      <p:sp>
        <p:nvSpPr>
          <p:cNvPr id="6" name="TextBox 5"/>
          <p:cNvSpPr txBox="1"/>
          <p:nvPr/>
        </p:nvSpPr>
        <p:spPr>
          <a:xfrm>
            <a:off x="731520" y="2514600"/>
            <a:ext cx="7132320" cy="685800"/>
          </a:xfrm>
          <a:prstGeom prst="rect">
            <a:avLst/>
          </a:prstGeom>
          <a:noFill/>
        </p:spPr>
        <p:txBody>
          <a:bodyPr wrap="square" lIns="0" rIns="0" tIns="0" bIns="0" anchor="t">
            <a:spAutoFit/>
          </a:bodyPr>
          <a:lstStyle/>
          <a:p>
            <a:pPr algn="l">
              <a:spcAft>
                <a:spcPts val="300"/>
              </a:spcAft>
            </a:pPr>
            <a:r>
              <a:rPr sz="1700" b="0" i="0">
                <a:solidFill>
                  <a:srgbClr val="B2CAA4"/>
                </a:solidFill>
                <a:latin typeface="Aptos"/>
              </a:rPr>
              <a:t>The project connects weekly meal scheduling with automatic grocery-list preparation in one organized workflow.</a:t>
            </a:r>
          </a:p>
        </p:txBody>
      </p:sp>
      <p:sp>
        <p:nvSpPr>
          <p:cNvPr id="7" name="TextBox 6"/>
          <p:cNvSpPr txBox="1"/>
          <p:nvPr/>
        </p:nvSpPr>
        <p:spPr>
          <a:xfrm>
            <a:off x="749808" y="3566160"/>
            <a:ext cx="411480" cy="228600"/>
          </a:xfrm>
          <a:prstGeom prst="rect">
            <a:avLst/>
          </a:prstGeom>
          <a:noFill/>
        </p:spPr>
        <p:txBody>
          <a:bodyPr wrap="square" lIns="0" rIns="0" tIns="0" bIns="0" anchor="t">
            <a:spAutoFit/>
          </a:bodyPr>
          <a:lstStyle/>
          <a:p>
            <a:pPr algn="l">
              <a:spcAft>
                <a:spcPts val="300"/>
              </a:spcAft>
            </a:pPr>
            <a:r>
              <a:rPr sz="1200" b="1" i="0">
                <a:solidFill>
                  <a:srgbClr val="E6B55D"/>
                </a:solidFill>
                <a:latin typeface="Aptos"/>
              </a:rPr>
              <a:t>01</a:t>
            </a:r>
          </a:p>
        </p:txBody>
      </p:sp>
      <p:sp>
        <p:nvSpPr>
          <p:cNvPr id="8" name="TextBox 7"/>
          <p:cNvSpPr txBox="1"/>
          <p:nvPr/>
        </p:nvSpPr>
        <p:spPr>
          <a:xfrm>
            <a:off x="1325880" y="3566160"/>
            <a:ext cx="6675120" cy="283464"/>
          </a:xfrm>
          <a:prstGeom prst="rect">
            <a:avLst/>
          </a:prstGeom>
          <a:noFill/>
        </p:spPr>
        <p:txBody>
          <a:bodyPr wrap="square" lIns="0" rIns="0" tIns="0" bIns="0" anchor="t">
            <a:spAutoFit/>
          </a:bodyPr>
          <a:lstStyle/>
          <a:p>
            <a:pPr algn="l">
              <a:spcAft>
                <a:spcPts val="300"/>
              </a:spcAft>
            </a:pPr>
            <a:r>
              <a:rPr sz="1400" b="1" i="0">
                <a:solidFill>
                  <a:srgbClr val="FFFFFF"/>
                </a:solidFill>
                <a:latin typeface="Aptos"/>
              </a:rPr>
              <a:t>Plan meals by day and meal type</a:t>
            </a:r>
          </a:p>
        </p:txBody>
      </p:sp>
      <p:sp>
        <p:nvSpPr>
          <p:cNvPr id="9" name="TextBox 8"/>
          <p:cNvSpPr txBox="1"/>
          <p:nvPr/>
        </p:nvSpPr>
        <p:spPr>
          <a:xfrm>
            <a:off x="749808" y="4096511"/>
            <a:ext cx="411480" cy="228600"/>
          </a:xfrm>
          <a:prstGeom prst="rect">
            <a:avLst/>
          </a:prstGeom>
          <a:noFill/>
        </p:spPr>
        <p:txBody>
          <a:bodyPr wrap="square" lIns="0" rIns="0" tIns="0" bIns="0" anchor="t">
            <a:spAutoFit/>
          </a:bodyPr>
          <a:lstStyle/>
          <a:p>
            <a:pPr algn="l">
              <a:spcAft>
                <a:spcPts val="300"/>
              </a:spcAft>
            </a:pPr>
            <a:r>
              <a:rPr sz="1200" b="1" i="0">
                <a:solidFill>
                  <a:srgbClr val="E6B55D"/>
                </a:solidFill>
                <a:latin typeface="Aptos"/>
              </a:rPr>
              <a:t>02</a:t>
            </a:r>
          </a:p>
        </p:txBody>
      </p:sp>
      <p:sp>
        <p:nvSpPr>
          <p:cNvPr id="10" name="TextBox 9"/>
          <p:cNvSpPr txBox="1"/>
          <p:nvPr/>
        </p:nvSpPr>
        <p:spPr>
          <a:xfrm>
            <a:off x="1325880" y="4096511"/>
            <a:ext cx="6675120" cy="283464"/>
          </a:xfrm>
          <a:prstGeom prst="rect">
            <a:avLst/>
          </a:prstGeom>
          <a:noFill/>
        </p:spPr>
        <p:txBody>
          <a:bodyPr wrap="square" lIns="0" rIns="0" tIns="0" bIns="0" anchor="t">
            <a:spAutoFit/>
          </a:bodyPr>
          <a:lstStyle/>
          <a:p>
            <a:pPr algn="l">
              <a:spcAft>
                <a:spcPts val="300"/>
              </a:spcAft>
            </a:pPr>
            <a:r>
              <a:rPr sz="1400" b="1" i="0">
                <a:solidFill>
                  <a:srgbClr val="FFFFFF"/>
                </a:solidFill>
                <a:latin typeface="Aptos"/>
              </a:rPr>
              <a:t>Combine ingredients into one shopping list</a:t>
            </a:r>
          </a:p>
        </p:txBody>
      </p:sp>
      <p:sp>
        <p:nvSpPr>
          <p:cNvPr id="11" name="TextBox 10"/>
          <p:cNvSpPr txBox="1"/>
          <p:nvPr/>
        </p:nvSpPr>
        <p:spPr>
          <a:xfrm>
            <a:off x="749808" y="4626864"/>
            <a:ext cx="411480" cy="228600"/>
          </a:xfrm>
          <a:prstGeom prst="rect">
            <a:avLst/>
          </a:prstGeom>
          <a:noFill/>
        </p:spPr>
        <p:txBody>
          <a:bodyPr wrap="square" lIns="0" rIns="0" tIns="0" bIns="0" anchor="t">
            <a:spAutoFit/>
          </a:bodyPr>
          <a:lstStyle/>
          <a:p>
            <a:pPr algn="l">
              <a:spcAft>
                <a:spcPts val="300"/>
              </a:spcAft>
            </a:pPr>
            <a:r>
              <a:rPr sz="1200" b="1" i="0">
                <a:solidFill>
                  <a:srgbClr val="E6B55D"/>
                </a:solidFill>
                <a:latin typeface="Aptos"/>
              </a:rPr>
              <a:t>03</a:t>
            </a:r>
          </a:p>
        </p:txBody>
      </p:sp>
      <p:sp>
        <p:nvSpPr>
          <p:cNvPr id="12" name="TextBox 11"/>
          <p:cNvSpPr txBox="1"/>
          <p:nvPr/>
        </p:nvSpPr>
        <p:spPr>
          <a:xfrm>
            <a:off x="1325880" y="4626864"/>
            <a:ext cx="6675120" cy="283464"/>
          </a:xfrm>
          <a:prstGeom prst="rect">
            <a:avLst/>
          </a:prstGeom>
          <a:noFill/>
        </p:spPr>
        <p:txBody>
          <a:bodyPr wrap="square" lIns="0" rIns="0" tIns="0" bIns="0" anchor="t">
            <a:spAutoFit/>
          </a:bodyPr>
          <a:lstStyle/>
          <a:p>
            <a:pPr algn="l">
              <a:spcAft>
                <a:spcPts val="300"/>
              </a:spcAft>
            </a:pPr>
            <a:r>
              <a:rPr sz="1400" b="1" i="0">
                <a:solidFill>
                  <a:srgbClr val="FFFFFF"/>
                </a:solidFill>
                <a:latin typeface="Aptos"/>
              </a:rPr>
              <a:t>Apply Java fundamentals and data structures</a:t>
            </a:r>
          </a:p>
        </p:txBody>
      </p:sp>
      <p:sp>
        <p:nvSpPr>
          <p:cNvPr id="13" name="TextBox 12"/>
          <p:cNvSpPr txBox="1"/>
          <p:nvPr/>
        </p:nvSpPr>
        <p:spPr>
          <a:xfrm>
            <a:off x="749808" y="5157216"/>
            <a:ext cx="411480" cy="228600"/>
          </a:xfrm>
          <a:prstGeom prst="rect">
            <a:avLst/>
          </a:prstGeom>
          <a:noFill/>
        </p:spPr>
        <p:txBody>
          <a:bodyPr wrap="square" lIns="0" rIns="0" tIns="0" bIns="0" anchor="t">
            <a:spAutoFit/>
          </a:bodyPr>
          <a:lstStyle/>
          <a:p>
            <a:pPr algn="l">
              <a:spcAft>
                <a:spcPts val="300"/>
              </a:spcAft>
            </a:pPr>
            <a:r>
              <a:rPr sz="1200" b="1" i="0">
                <a:solidFill>
                  <a:srgbClr val="E6B55D"/>
                </a:solidFill>
                <a:latin typeface="Aptos"/>
              </a:rPr>
              <a:t>04</a:t>
            </a:r>
          </a:p>
        </p:txBody>
      </p:sp>
      <p:sp>
        <p:nvSpPr>
          <p:cNvPr id="14" name="TextBox 13"/>
          <p:cNvSpPr txBox="1"/>
          <p:nvPr/>
        </p:nvSpPr>
        <p:spPr>
          <a:xfrm>
            <a:off x="1325880" y="5157216"/>
            <a:ext cx="6675120" cy="283464"/>
          </a:xfrm>
          <a:prstGeom prst="rect">
            <a:avLst/>
          </a:prstGeom>
          <a:noFill/>
        </p:spPr>
        <p:txBody>
          <a:bodyPr wrap="square" lIns="0" rIns="0" tIns="0" bIns="0" anchor="t">
            <a:spAutoFit/>
          </a:bodyPr>
          <a:lstStyle/>
          <a:p>
            <a:pPr algn="l">
              <a:spcAft>
                <a:spcPts val="300"/>
              </a:spcAft>
            </a:pPr>
            <a:r>
              <a:rPr sz="1400" b="1" i="0">
                <a:solidFill>
                  <a:srgbClr val="FFFFFF"/>
                </a:solidFill>
                <a:latin typeface="Aptos"/>
              </a:rPr>
              <a:t>Support efficient shopping and reduce avoidable waste</a:t>
            </a:r>
          </a:p>
        </p:txBody>
      </p:sp>
      <p:sp>
        <p:nvSpPr>
          <p:cNvPr id="15" name="Oval 14"/>
          <p:cNvSpPr/>
          <p:nvPr/>
        </p:nvSpPr>
        <p:spPr>
          <a:xfrm>
            <a:off x="9098280" y="1325880"/>
            <a:ext cx="2400300" cy="2400300"/>
          </a:xfrm>
          <a:prstGeom prst="ellipse">
            <a:avLst/>
          </a:prstGeom>
          <a:solidFill>
            <a:srgbClr val="F4EF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271101" y="1498701"/>
            <a:ext cx="2054656" cy="205465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722358" y="1853945"/>
            <a:ext cx="595274" cy="595274"/>
          </a:xfrm>
          <a:prstGeom prst="ellipse">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27233" y="1853945"/>
            <a:ext cx="480060" cy="480060"/>
          </a:xfrm>
          <a:prstGeom prst="ellipse">
            <a:avLst/>
          </a:prstGeom>
          <a:solidFill>
            <a:srgbClr val="B2CA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26346" y="2478024"/>
            <a:ext cx="528066" cy="528066"/>
          </a:xfrm>
          <a:prstGeom prst="ellipse">
            <a:avLst/>
          </a:prstGeom>
          <a:solidFill>
            <a:srgbClr val="E6B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298430" y="2458821"/>
            <a:ext cx="652881" cy="652881"/>
          </a:xfrm>
          <a:prstGeom prst="ellipse">
            <a:avLst/>
          </a:prstGeom>
          <a:solidFill>
            <a:srgbClr val="1E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981590" y="2237994"/>
            <a:ext cx="384048" cy="384048"/>
          </a:xfrm>
          <a:prstGeom prst="ellipse">
            <a:avLst/>
          </a:prstGeom>
          <a:solidFill>
            <a:srgbClr val="F7D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94442" y="1575511"/>
            <a:ext cx="172821" cy="432054"/>
          </a:xfrm>
          <a:prstGeom prst="ellipse">
            <a:avLst/>
          </a:prstGeom>
          <a:solidFill>
            <a:srgbClr val="1E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63125" y="2237994"/>
            <a:ext cx="144018" cy="345643"/>
          </a:xfrm>
          <a:prstGeom prst="ellipse">
            <a:avLst/>
          </a:prstGeom>
          <a:solidFill>
            <a:srgbClr val="B2CA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64040" y="4251960"/>
            <a:ext cx="2286000" cy="292608"/>
          </a:xfrm>
          <a:prstGeom prst="rect">
            <a:avLst/>
          </a:prstGeom>
          <a:noFill/>
        </p:spPr>
        <p:txBody>
          <a:bodyPr wrap="square" lIns="0" rIns="0" tIns="0" bIns="0" anchor="t">
            <a:spAutoFit/>
          </a:bodyPr>
          <a:lstStyle/>
          <a:p>
            <a:pPr algn="ctr">
              <a:spcAft>
                <a:spcPts val="300"/>
              </a:spcAft>
            </a:pPr>
            <a:r>
              <a:rPr sz="1800" b="1" i="0">
                <a:solidFill>
                  <a:srgbClr val="DBE891"/>
                </a:solidFill>
                <a:latin typeface="Aptos"/>
              </a:rPr>
              <a:t>PLAN</a:t>
            </a:r>
          </a:p>
        </p:txBody>
      </p:sp>
      <p:sp>
        <p:nvSpPr>
          <p:cNvPr id="25" name="TextBox 24"/>
          <p:cNvSpPr txBox="1"/>
          <p:nvPr/>
        </p:nvSpPr>
        <p:spPr>
          <a:xfrm>
            <a:off x="10259568" y="4572000"/>
            <a:ext cx="548640" cy="320040"/>
          </a:xfrm>
          <a:prstGeom prst="rect">
            <a:avLst/>
          </a:prstGeom>
          <a:noFill/>
        </p:spPr>
        <p:txBody>
          <a:bodyPr wrap="square" lIns="0" rIns="0" tIns="0" bIns="0" anchor="t">
            <a:spAutoFit/>
          </a:bodyPr>
          <a:lstStyle/>
          <a:p>
            <a:pPr algn="ctr">
              <a:spcAft>
                <a:spcPts val="300"/>
              </a:spcAft>
            </a:pPr>
            <a:r>
              <a:rPr sz="1900" b="1" i="0">
                <a:solidFill>
                  <a:srgbClr val="E6B55D"/>
                </a:solidFill>
                <a:latin typeface="Aptos"/>
              </a:rPr>
              <a:t>↓</a:t>
            </a:r>
          </a:p>
        </p:txBody>
      </p:sp>
      <p:sp>
        <p:nvSpPr>
          <p:cNvPr id="26" name="TextBox 25"/>
          <p:cNvSpPr txBox="1"/>
          <p:nvPr/>
        </p:nvSpPr>
        <p:spPr>
          <a:xfrm>
            <a:off x="9144000" y="5010912"/>
            <a:ext cx="2926080" cy="310896"/>
          </a:xfrm>
          <a:prstGeom prst="rect">
            <a:avLst/>
          </a:prstGeom>
          <a:noFill/>
        </p:spPr>
        <p:txBody>
          <a:bodyPr wrap="square" lIns="0" rIns="0" tIns="0" bIns="0" anchor="t">
            <a:spAutoFit/>
          </a:bodyPr>
          <a:lstStyle/>
          <a:p>
            <a:pPr algn="ctr">
              <a:spcAft>
                <a:spcPts val="300"/>
              </a:spcAft>
            </a:pPr>
            <a:r>
              <a:rPr sz="1600" b="1" i="0">
                <a:solidFill>
                  <a:srgbClr val="FFFFFF"/>
                </a:solidFill>
                <a:latin typeface="Aptos"/>
              </a:rPr>
              <a:t>SHOP SMARTER</a:t>
            </a:r>
          </a:p>
        </p:txBody>
      </p:sp>
      <p:sp>
        <p:nvSpPr>
          <p:cNvPr id="27" name="TextBox 26"/>
          <p:cNvSpPr txBox="1"/>
          <p:nvPr/>
        </p:nvSpPr>
        <p:spPr>
          <a:xfrm>
            <a:off x="10652760" y="6519672"/>
            <a:ext cx="914400" cy="164592"/>
          </a:xfrm>
          <a:prstGeom prst="rect">
            <a:avLst/>
          </a:prstGeom>
          <a:noFill/>
        </p:spPr>
        <p:txBody>
          <a:bodyPr wrap="square" lIns="0" rIns="0" tIns="0" bIns="0" anchor="t">
            <a:spAutoFit/>
          </a:bodyPr>
          <a:lstStyle/>
          <a:p>
            <a:pPr algn="r">
              <a:spcAft>
                <a:spcPts val="300"/>
              </a:spcAft>
            </a:pPr>
            <a:r>
              <a:rPr sz="900" b="0" i="0">
                <a:solidFill>
                  <a:srgbClr val="B2CAA4"/>
                </a:solidFill>
                <a:latin typeface="Aptos"/>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0040"/>
            <a:ext cx="7315200" cy="201168"/>
          </a:xfrm>
          <a:prstGeom prst="rect">
            <a:avLst/>
          </a:prstGeom>
          <a:noFill/>
        </p:spPr>
        <p:txBody>
          <a:bodyPr wrap="square" lIns="0" rIns="0" tIns="0" bIns="0" anchor="ctr">
            <a:spAutoFit/>
          </a:bodyPr>
          <a:lstStyle/>
          <a:p>
            <a:pPr algn="l"/>
            <a:r>
              <a:rPr sz="900" b="1">
                <a:solidFill>
                  <a:srgbClr val="1E4336"/>
                </a:solidFill>
                <a:latin typeface="Aptos"/>
              </a:rPr>
              <a:t>APPLICATION EVIDENCE</a:t>
            </a:r>
          </a:p>
        </p:txBody>
      </p:sp>
      <p:sp>
        <p:nvSpPr>
          <p:cNvPr id="4" name="TextBox 3"/>
          <p:cNvSpPr txBox="1"/>
          <p:nvPr/>
        </p:nvSpPr>
        <p:spPr>
          <a:xfrm>
            <a:off x="566928" y="658368"/>
            <a:ext cx="10972800" cy="530352"/>
          </a:xfrm>
          <a:prstGeom prst="rect">
            <a:avLst/>
          </a:prstGeom>
          <a:noFill/>
        </p:spPr>
        <p:txBody>
          <a:bodyPr wrap="square" lIns="0" rIns="0" tIns="0" bIns="0" anchor="ctr">
            <a:spAutoFit/>
          </a:bodyPr>
          <a:lstStyle/>
          <a:p>
            <a:pPr algn="l"/>
            <a:r>
              <a:rPr sz="2700" b="1">
                <a:solidFill>
                  <a:srgbClr val="1E4336"/>
                </a:solidFill>
                <a:latin typeface="Aptos"/>
              </a:rPr>
              <a:t>Project Screenshot</a:t>
            </a:r>
          </a:p>
        </p:txBody>
      </p:sp>
      <p:sp>
        <p:nvSpPr>
          <p:cNvPr id="5" name="Rectangle 4"/>
          <p:cNvSpPr/>
          <p:nvPr/>
        </p:nvSpPr>
        <p:spPr>
          <a:xfrm>
            <a:off x="566928" y="1307592"/>
            <a:ext cx="713232" cy="50292"/>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664208"/>
            <a:ext cx="10881360" cy="43159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creenshot 2026-10-15 205705.png"/>
          <p:cNvPicPr>
            <a:picLocks noChangeAspect="1"/>
          </p:cNvPicPr>
          <p:nvPr/>
        </p:nvPicPr>
        <p:blipFill>
          <a:blip r:embed="rId2"/>
          <a:stretch>
            <a:fillRect/>
          </a:stretch>
        </p:blipFill>
        <p:spPr>
          <a:xfrm>
            <a:off x="2881881" y="1874519"/>
            <a:ext cx="6443477" cy="3886200"/>
          </a:xfrm>
          <a:prstGeom prst="rect">
            <a:avLst/>
          </a:prstGeom>
        </p:spPr>
      </p:pic>
      <p:sp>
        <p:nvSpPr>
          <p:cNvPr id="8" name="TextBox 7"/>
          <p:cNvSpPr txBox="1"/>
          <p:nvPr/>
        </p:nvSpPr>
        <p:spPr>
          <a:xfrm>
            <a:off x="777240" y="6108192"/>
            <a:ext cx="10698480" cy="228600"/>
          </a:xfrm>
          <a:prstGeom prst="rect">
            <a:avLst/>
          </a:prstGeom>
          <a:noFill/>
        </p:spPr>
        <p:txBody>
          <a:bodyPr wrap="square" lIns="0" rIns="0" tIns="0" bIns="0" anchor="ctr">
            <a:spAutoFit/>
          </a:bodyPr>
          <a:lstStyle/>
          <a:p>
            <a:pPr algn="ctr"/>
            <a:r>
              <a:rPr sz="1200" b="0">
                <a:solidFill>
                  <a:srgbClr val="6A776C"/>
                </a:solidFill>
                <a:latin typeface="Aptos"/>
              </a:rPr>
              <a:t>Console output: Weekly Meal Planner menu and food-waste tracking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63028"/>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DE6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49640" y="0"/>
            <a:ext cx="3642055" cy="6858000"/>
          </a:xfrm>
          <a:prstGeom prst="rect">
            <a:avLst/>
          </a:prstGeom>
          <a:solidFill>
            <a:srgbClr val="1E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58368"/>
            <a:ext cx="3017520" cy="228600"/>
          </a:xfrm>
          <a:prstGeom prst="rect">
            <a:avLst/>
          </a:prstGeom>
          <a:noFill/>
        </p:spPr>
        <p:txBody>
          <a:bodyPr wrap="square" lIns="0" rIns="0" tIns="0" bIns="0" anchor="t">
            <a:spAutoFit/>
          </a:bodyPr>
          <a:lstStyle/>
          <a:p>
            <a:pPr algn="l">
              <a:spcAft>
                <a:spcPts val="300"/>
              </a:spcAft>
            </a:pPr>
            <a:r>
              <a:rPr sz="1000" b="1" i="0">
                <a:solidFill>
                  <a:srgbClr val="DBE891"/>
                </a:solidFill>
                <a:latin typeface="Aptos"/>
              </a:rPr>
              <a:t>PROJECT REPOSITORY</a:t>
            </a:r>
          </a:p>
        </p:txBody>
      </p:sp>
      <p:sp>
        <p:nvSpPr>
          <p:cNvPr id="5" name="TextBox 4"/>
          <p:cNvSpPr txBox="1"/>
          <p:nvPr/>
        </p:nvSpPr>
        <p:spPr>
          <a:xfrm>
            <a:off x="685800" y="1143000"/>
            <a:ext cx="7132320" cy="685800"/>
          </a:xfrm>
          <a:prstGeom prst="rect">
            <a:avLst/>
          </a:prstGeom>
          <a:noFill/>
        </p:spPr>
        <p:txBody>
          <a:bodyPr wrap="square" lIns="0" rIns="0" tIns="0" bIns="0" anchor="t">
            <a:spAutoFit/>
          </a:bodyPr>
          <a:lstStyle/>
          <a:p>
            <a:pPr algn="l">
              <a:spcAft>
                <a:spcPts val="300"/>
              </a:spcAft>
            </a:pPr>
            <a:r>
              <a:rPr sz="3200" b="1" i="0">
                <a:solidFill>
                  <a:srgbClr val="FFFFFF"/>
                </a:solidFill>
                <a:latin typeface="Aptos"/>
              </a:rPr>
              <a:t>Explore the code.</a:t>
            </a:r>
          </a:p>
        </p:txBody>
      </p:sp>
      <p:sp>
        <p:nvSpPr>
          <p:cNvPr id="6" name="TextBox 5"/>
          <p:cNvSpPr txBox="1"/>
          <p:nvPr/>
        </p:nvSpPr>
        <p:spPr>
          <a:xfrm>
            <a:off x="731520" y="2011680"/>
            <a:ext cx="7223760" cy="384048"/>
          </a:xfrm>
          <a:prstGeom prst="rect">
            <a:avLst/>
          </a:prstGeom>
          <a:noFill/>
        </p:spPr>
        <p:txBody>
          <a:bodyPr wrap="square" lIns="0" rIns="0" tIns="0" bIns="0" anchor="t">
            <a:spAutoFit/>
          </a:bodyPr>
          <a:lstStyle/>
          <a:p>
            <a:pPr algn="l">
              <a:spcAft>
                <a:spcPts val="300"/>
              </a:spcAft>
            </a:pPr>
            <a:r>
              <a:rPr sz="1700" b="0" i="0">
                <a:solidFill>
                  <a:srgbClr val="B2CAA4"/>
                </a:solidFill>
                <a:latin typeface="Aptos"/>
              </a:rPr>
              <a:t>Weekly Meal Planner &amp; Grocery Generator</a:t>
            </a:r>
          </a:p>
        </p:txBody>
      </p:sp>
      <p:sp>
        <p:nvSpPr>
          <p:cNvPr id="7" name="Rounded Rectangle 6"/>
          <p:cNvSpPr/>
          <p:nvPr/>
        </p:nvSpPr>
        <p:spPr>
          <a:xfrm>
            <a:off x="731520" y="2834640"/>
            <a:ext cx="7360920" cy="1261872"/>
          </a:xfrm>
          <a:prstGeom prst="roundRect">
            <a:avLst>
              <a:gd name="adj" fmla="val 12000"/>
            </a:avLst>
          </a:prstGeom>
          <a:solidFill>
            <a:srgbClr val="2545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3218688"/>
            <a:ext cx="6903720" cy="438912"/>
          </a:xfrm>
          <a:prstGeom prst="rect">
            <a:avLst/>
          </a:prstGeom>
          <a:noFill/>
        </p:spPr>
        <p:txBody>
          <a:bodyPr wrap="square" lIns="0" rIns="0" tIns="0" bIns="0" anchor="t">
            <a:spAutoFit/>
          </a:bodyPr>
          <a:lstStyle/>
          <a:p>
            <a:pPr algn="l">
              <a:spcAft>
                <a:spcPts val="300"/>
              </a:spcAft>
            </a:pPr>
            <a:r>
              <a:rPr sz="1300" b="1" i="0">
                <a:solidFill>
                  <a:srgbClr val="DBE891"/>
                </a:solidFill>
                <a:latin typeface="Aptos"/>
                <a:hlinkClick r:id="rId2"/>
              </a:rPr>
              <a:t>https://github.com/meghana200712/KLHB-FED-26-15-1-Weekly-Meal-Planner-Grocery-Generator</a:t>
            </a:r>
          </a:p>
        </p:txBody>
      </p:sp>
      <p:sp>
        <p:nvSpPr>
          <p:cNvPr id="9" name="TextBox 8"/>
          <p:cNvSpPr txBox="1"/>
          <p:nvPr/>
        </p:nvSpPr>
        <p:spPr>
          <a:xfrm>
            <a:off x="749808" y="4370832"/>
            <a:ext cx="7040880" cy="365760"/>
          </a:xfrm>
          <a:prstGeom prst="rect">
            <a:avLst/>
          </a:prstGeom>
          <a:noFill/>
        </p:spPr>
        <p:txBody>
          <a:bodyPr wrap="square" lIns="0" rIns="0" tIns="0" bIns="0" anchor="t">
            <a:spAutoFit/>
          </a:bodyPr>
          <a:lstStyle/>
          <a:p>
            <a:pPr algn="l">
              <a:spcAft>
                <a:spcPts val="300"/>
              </a:spcAft>
            </a:pPr>
            <a:r>
              <a:rPr sz="1300" b="0" i="0">
                <a:solidFill>
                  <a:srgbClr val="B2CAA4"/>
                </a:solidFill>
                <a:latin typeface="Aptos"/>
              </a:rPr>
              <a:t>Click the repository link to view the source code and project files.</a:t>
            </a:r>
          </a:p>
        </p:txBody>
      </p:sp>
      <p:sp>
        <p:nvSpPr>
          <p:cNvPr id="10" name="Rounded Rectangle 9"/>
          <p:cNvSpPr/>
          <p:nvPr/>
        </p:nvSpPr>
        <p:spPr>
          <a:xfrm>
            <a:off x="9281160" y="1280160"/>
            <a:ext cx="2057400" cy="2057400"/>
          </a:xfrm>
          <a:prstGeom prst="roundRect">
            <a:avLst>
              <a:gd name="adj" fmla="val 12000"/>
            </a:avLst>
          </a:prstGeom>
          <a:solidFill>
            <a:srgbClr val="FA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64040" y="1901952"/>
            <a:ext cx="1691640" cy="640080"/>
          </a:xfrm>
          <a:prstGeom prst="rect">
            <a:avLst/>
          </a:prstGeom>
          <a:noFill/>
        </p:spPr>
        <p:txBody>
          <a:bodyPr wrap="square" lIns="0" rIns="0" tIns="0" bIns="0" anchor="ctr">
            <a:spAutoFit/>
          </a:bodyPr>
          <a:lstStyle/>
          <a:p>
            <a:pPr algn="ctr">
              <a:spcAft>
                <a:spcPts val="300"/>
              </a:spcAft>
            </a:pPr>
            <a:r>
              <a:rPr sz="3200" b="1" i="0">
                <a:solidFill>
                  <a:srgbClr val="1E4336"/>
                </a:solidFill>
                <a:latin typeface="Aptos"/>
              </a:rPr>
              <a:t>GH</a:t>
            </a:r>
          </a:p>
        </p:txBody>
      </p:sp>
      <p:sp>
        <p:nvSpPr>
          <p:cNvPr id="12" name="TextBox 11"/>
          <p:cNvSpPr txBox="1"/>
          <p:nvPr/>
        </p:nvSpPr>
        <p:spPr>
          <a:xfrm>
            <a:off x="9372600" y="3886200"/>
            <a:ext cx="1920240" cy="274320"/>
          </a:xfrm>
          <a:prstGeom prst="rect">
            <a:avLst/>
          </a:prstGeom>
          <a:noFill/>
        </p:spPr>
        <p:txBody>
          <a:bodyPr wrap="square" lIns="0" rIns="0" tIns="0" bIns="0" anchor="t">
            <a:spAutoFit/>
          </a:bodyPr>
          <a:lstStyle/>
          <a:p>
            <a:pPr algn="ctr">
              <a:spcAft>
                <a:spcPts val="300"/>
              </a:spcAft>
            </a:pPr>
            <a:r>
              <a:rPr sz="1700" b="1" i="0">
                <a:solidFill>
                  <a:srgbClr val="DBE891"/>
                </a:solidFill>
                <a:latin typeface="Aptos"/>
              </a:rPr>
              <a:t>CODE</a:t>
            </a:r>
          </a:p>
        </p:txBody>
      </p:sp>
      <p:sp>
        <p:nvSpPr>
          <p:cNvPr id="13" name="TextBox 12"/>
          <p:cNvSpPr txBox="1"/>
          <p:nvPr/>
        </p:nvSpPr>
        <p:spPr>
          <a:xfrm>
            <a:off x="9372600" y="4389120"/>
            <a:ext cx="1920240" cy="274320"/>
          </a:xfrm>
          <a:prstGeom prst="rect">
            <a:avLst/>
          </a:prstGeom>
          <a:noFill/>
        </p:spPr>
        <p:txBody>
          <a:bodyPr wrap="square" lIns="0" rIns="0" tIns="0" bIns="0" anchor="t">
            <a:spAutoFit/>
          </a:bodyPr>
          <a:lstStyle/>
          <a:p>
            <a:pPr algn="ctr">
              <a:spcAft>
                <a:spcPts val="300"/>
              </a:spcAft>
            </a:pPr>
            <a:r>
              <a:rPr sz="1700" b="1" i="0">
                <a:solidFill>
                  <a:srgbClr val="DE694B"/>
                </a:solidFill>
                <a:latin typeface="Aptos"/>
              </a:rPr>
              <a:t>BUILD</a:t>
            </a:r>
          </a:p>
        </p:txBody>
      </p:sp>
      <p:sp>
        <p:nvSpPr>
          <p:cNvPr id="14" name="TextBox 13"/>
          <p:cNvSpPr txBox="1"/>
          <p:nvPr/>
        </p:nvSpPr>
        <p:spPr>
          <a:xfrm>
            <a:off x="9372600" y="4892040"/>
            <a:ext cx="1920240" cy="274320"/>
          </a:xfrm>
          <a:prstGeom prst="rect">
            <a:avLst/>
          </a:prstGeom>
          <a:noFill/>
        </p:spPr>
        <p:txBody>
          <a:bodyPr wrap="square" lIns="0" rIns="0" tIns="0" bIns="0" anchor="t">
            <a:spAutoFit/>
          </a:bodyPr>
          <a:lstStyle/>
          <a:p>
            <a:pPr algn="ctr">
              <a:spcAft>
                <a:spcPts val="300"/>
              </a:spcAft>
            </a:pPr>
            <a:r>
              <a:rPr sz="1700" b="1" i="0">
                <a:solidFill>
                  <a:srgbClr val="E6B55D"/>
                </a:solidFill>
                <a:latin typeface="Aptos"/>
              </a:rPr>
              <a:t>SHARE</a:t>
            </a:r>
          </a:p>
        </p:txBody>
      </p:sp>
      <p:sp>
        <p:nvSpPr>
          <p:cNvPr id="15" name="TextBox 14"/>
          <p:cNvSpPr txBox="1"/>
          <p:nvPr/>
        </p:nvSpPr>
        <p:spPr>
          <a:xfrm>
            <a:off x="10652760" y="6519672"/>
            <a:ext cx="914400" cy="164592"/>
          </a:xfrm>
          <a:prstGeom prst="rect">
            <a:avLst/>
          </a:prstGeom>
          <a:noFill/>
        </p:spPr>
        <p:txBody>
          <a:bodyPr wrap="square" lIns="0" rIns="0" tIns="0" bIns="0" anchor="t">
            <a:spAutoFit/>
          </a:bodyPr>
          <a:lstStyle/>
          <a:p>
            <a:pPr algn="r">
              <a:spcAft>
                <a:spcPts val="300"/>
              </a:spcAft>
            </a:pPr>
            <a:r>
              <a:rPr sz="900" b="0" i="0">
                <a:solidFill>
                  <a:srgbClr val="B2CAA4"/>
                </a:solidFill>
                <a:latin typeface="Aptos"/>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Meal Planner &amp; Grocery Generator</dc:title>
  <dc:subject>Premium Java mini-project presentation</dc:subject>
  <dc:creator>P. Renu Sree and M. Meghana Sruthi</dc:creator>
  <cp:keywords>Java, meal planning, grocery generator, CO1, CO2, CO3, CO4, CO5, CO6</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